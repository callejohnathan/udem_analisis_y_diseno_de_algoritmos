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</p:sldIdLst>
  <p:sldSz cy="5143500" cx="9144000"/>
  <p:notesSz cx="6858000" cy="9144000"/>
  <p:embeddedFontLst>
    <p:embeddedFont>
      <p:font typeface="Raleway"/>
      <p:regular r:id="rId112"/>
      <p:bold r:id="rId113"/>
      <p:italic r:id="rId114"/>
      <p:boldItalic r:id="rId115"/>
    </p:embeddedFont>
    <p:embeddedFont>
      <p:font typeface="Lato"/>
      <p:regular r:id="rId116"/>
      <p:bold r:id="rId117"/>
      <p:italic r:id="rId118"/>
      <p:boldItalic r:id="rId119"/>
    </p:embeddedFont>
    <p:embeddedFont>
      <p:font typeface="Roboto Mono"/>
      <p:regular r:id="rId120"/>
      <p:bold r:id="rId121"/>
      <p:italic r:id="rId122"/>
      <p:boldItalic r:id="rId1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schemas.openxmlformats.org/officeDocument/2006/relationships/font" Target="fonts/RobotoMono-bold.fntdata"/><Relationship Id="rId25" Type="http://schemas.openxmlformats.org/officeDocument/2006/relationships/slide" Target="slides/slide20.xml"/><Relationship Id="rId120" Type="http://schemas.openxmlformats.org/officeDocument/2006/relationships/font" Target="fonts/RobotoMon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23" Type="http://schemas.openxmlformats.org/officeDocument/2006/relationships/font" Target="fonts/RobotoMono-boldItalic.fntdata"/><Relationship Id="rId122" Type="http://schemas.openxmlformats.org/officeDocument/2006/relationships/font" Target="fonts/RobotoMono-italic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font" Target="fonts/Lato-italic.fntdata"/><Relationship Id="rId117" Type="http://schemas.openxmlformats.org/officeDocument/2006/relationships/font" Target="fonts/Lato-bold.fntdata"/><Relationship Id="rId116" Type="http://schemas.openxmlformats.org/officeDocument/2006/relationships/font" Target="fonts/Lato-regular.fntdata"/><Relationship Id="rId115" Type="http://schemas.openxmlformats.org/officeDocument/2006/relationships/font" Target="fonts/Raleway-boldItalic.fntdata"/><Relationship Id="rId119" Type="http://schemas.openxmlformats.org/officeDocument/2006/relationships/font" Target="fonts/Lato-boldItalic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Raleway-italic.fntdata"/><Relationship Id="rId18" Type="http://schemas.openxmlformats.org/officeDocument/2006/relationships/slide" Target="slides/slide13.xml"/><Relationship Id="rId113" Type="http://schemas.openxmlformats.org/officeDocument/2006/relationships/font" Target="fonts/Raleway-bold.fntdata"/><Relationship Id="rId112" Type="http://schemas.openxmlformats.org/officeDocument/2006/relationships/font" Target="fonts/Raleway-regular.fntdata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33be95b6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33be95b6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33be95b6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33be95b6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33be95b6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33be95b6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33be95b6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33be95b6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33be95b6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33be95b6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33be95b6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33be95b6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38399d2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38399d2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33be95b6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33be95b6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33be95b6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33be95b6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33be95b6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33be95b6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33be95b6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33be95b6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33be95b6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33be95b6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33be95b6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33be95b6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33be95b6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33be95b6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33be95b69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33be95b6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33be95b69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33be95b6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33be95b69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33be95b69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33be95b69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33be95b69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33be95b6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33be95b6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33be95b69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633be95b69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33be95b6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33be95b6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33be95b69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33be95b69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33be95b69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33be95b69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33be95b6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33be95b6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33be95b69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633be95b69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33be95b6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633be95b6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33be95b6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633be95b6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34da2a7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34da2a7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34da2a76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34da2a76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34da2a76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634da2a76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34da2a76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634da2a76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34da2a76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634da2a76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34da2a76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634da2a76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34da2a7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634da2a7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34da2a76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634da2a76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34da2a76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634da2a76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34da2a76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634da2a76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634da2a76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634da2a76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634da2a76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634da2a76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34da2a76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634da2a76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634da2a76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634da2a76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712c58a90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712c58a90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634da2a76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634da2a76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34da2a76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634da2a76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34da2a76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634da2a76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634da2a76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634da2a76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34da2a76b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634da2a76b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34da2a76b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634da2a76b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634da2a76b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634da2a76b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634da2a76b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634da2a76b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34da2a76b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634da2a76b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34da2a76b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634da2a76b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634da2a76b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634da2a76b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634da2a76b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634da2a76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34da2a76b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34da2a76b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34da2a76b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34da2a76b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634da2a76b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634da2a76b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34da2a76b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634da2a76b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34da2a76b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634da2a76b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🔁 </a:t>
            </a:r>
            <a:r>
              <a:rPr b="1" lang="es">
                <a:solidFill>
                  <a:schemeClr val="dk1"/>
                </a:solidFill>
              </a:rPr>
              <a:t>Estructura del código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Hay </a:t>
            </a:r>
            <a:r>
              <a:rPr b="1" lang="es">
                <a:solidFill>
                  <a:schemeClr val="dk1"/>
                </a:solidFill>
              </a:rPr>
              <a:t>dos ciclos anidados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>
                <a:solidFill>
                  <a:schemeClr val="dk1"/>
                </a:solidFill>
              </a:rPr>
              <a:t> dentro de otro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📏 </a:t>
            </a:r>
            <a:r>
              <a:rPr b="1" lang="es">
                <a:solidFill>
                  <a:schemeClr val="dk1"/>
                </a:solidFill>
              </a:rPr>
              <a:t>Ciclo externo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Recorre un rango proporcional a </a:t>
            </a:r>
            <a:r>
              <a:rPr b="1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Se ejecuta aproximadamente </a:t>
            </a:r>
            <a:r>
              <a:rPr b="1" lang="es">
                <a:solidFill>
                  <a:schemeClr val="dk1"/>
                </a:solidFill>
              </a:rPr>
              <a:t>n veces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🔂 </a:t>
            </a:r>
            <a:r>
              <a:rPr b="1" lang="es">
                <a:solidFill>
                  <a:schemeClr val="dk1"/>
                </a:solidFill>
              </a:rPr>
              <a:t>Ciclo interno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Para </a:t>
            </a:r>
            <a:r>
              <a:rPr b="1" lang="es">
                <a:solidFill>
                  <a:schemeClr val="dk1"/>
                </a:solidFill>
              </a:rPr>
              <a:t>cada iteración</a:t>
            </a:r>
            <a:r>
              <a:rPr lang="es">
                <a:solidFill>
                  <a:schemeClr val="dk1"/>
                </a:solidFill>
              </a:rPr>
              <a:t> del ciclo externo, el ciclo interno también recorre un rango proporcional a </a:t>
            </a:r>
            <a:r>
              <a:rPr b="1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Se ejecuta aproximadamente </a:t>
            </a:r>
            <a:r>
              <a:rPr b="1" lang="es">
                <a:solidFill>
                  <a:schemeClr val="dk1"/>
                </a:solidFill>
              </a:rPr>
              <a:t>n veces</a:t>
            </a:r>
            <a:r>
              <a:rPr lang="es">
                <a:solidFill>
                  <a:schemeClr val="dk1"/>
                </a:solidFill>
              </a:rPr>
              <a:t> por cada iteración externa.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✖️ </a:t>
            </a:r>
            <a:r>
              <a:rPr b="1" lang="es">
                <a:solidFill>
                  <a:schemeClr val="dk1"/>
                </a:solidFill>
              </a:rPr>
              <a:t>Combinación de iteraciones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número total de iteraciones es del orden de</a:t>
            </a:r>
            <a:br>
              <a:rPr lang="es">
                <a:solidFill>
                  <a:schemeClr val="dk1"/>
                </a:solidFill>
              </a:rPr>
            </a:br>
            <a:r>
              <a:rPr b="1" lang="es">
                <a:solidFill>
                  <a:schemeClr val="dk1"/>
                </a:solidFill>
              </a:rPr>
              <a:t>n × n = n²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⚙️ </a:t>
            </a:r>
            <a:r>
              <a:rPr b="1" lang="es">
                <a:solidFill>
                  <a:schemeClr val="dk1"/>
                </a:solidFill>
              </a:rPr>
              <a:t>Operaciones internas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Dentro del ciclo interno solo hay </a:t>
            </a:r>
            <a:r>
              <a:rPr b="1" lang="es">
                <a:solidFill>
                  <a:schemeClr val="dk1"/>
                </a:solidFill>
              </a:rPr>
              <a:t>operaciones O(1)</a:t>
            </a:r>
            <a:r>
              <a:rPr lang="es">
                <a:solidFill>
                  <a:schemeClr val="dk1"/>
                </a:solidFill>
              </a:rPr>
              <a:t> (constantes).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No afectan el orden de crecimiento.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🔄 </a:t>
            </a:r>
            <a:r>
              <a:rPr b="1" lang="es">
                <a:solidFill>
                  <a:schemeClr val="dk1"/>
                </a:solidFill>
              </a:rPr>
              <a:t>Estructura alternativa mostrada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Aunque el segundo fragmento usa rangos decrecientes o inicia en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i+1</a:t>
            </a:r>
            <a:r>
              <a:rPr lang="es">
                <a:solidFill>
                  <a:schemeClr val="dk1"/>
                </a:solidFill>
              </a:rPr>
              <a:t>, el número total de iteraciones sigue siendo </a:t>
            </a:r>
            <a:r>
              <a:rPr b="1" lang="es">
                <a:solidFill>
                  <a:schemeClr val="dk1"/>
                </a:solidFill>
              </a:rPr>
              <a:t>cuadrático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total de pares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(i, j)</a:t>
            </a:r>
            <a:r>
              <a:rPr lang="es">
                <a:solidFill>
                  <a:schemeClr val="dk1"/>
                </a:solidFill>
              </a:rPr>
              <a:t> evaluados crece proporcionalmente a </a:t>
            </a:r>
            <a:r>
              <a:rPr b="1" lang="es">
                <a:solidFill>
                  <a:schemeClr val="dk1"/>
                </a:solidFill>
              </a:rPr>
              <a:t>n²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📈 </a:t>
            </a:r>
            <a:r>
              <a:rPr b="1" lang="es">
                <a:solidFill>
                  <a:schemeClr val="dk1"/>
                </a:solidFill>
              </a:rPr>
              <a:t>Conclusión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Al aumentar el tamaño de entrada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s">
                <a:solidFill>
                  <a:schemeClr val="dk1"/>
                </a:solidFill>
              </a:rPr>
              <a:t>, el tiempo de ejecución crece de manera proporcional a </a:t>
            </a:r>
            <a:r>
              <a:rPr b="1" lang="es">
                <a:solidFill>
                  <a:schemeClr val="dk1"/>
                </a:solidFill>
              </a:rPr>
              <a:t>n²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Por tanto, la </a:t>
            </a:r>
            <a:r>
              <a:rPr b="1" lang="es">
                <a:solidFill>
                  <a:schemeClr val="dk1"/>
                </a:solidFill>
              </a:rPr>
              <a:t>complejidad temporal es O(n²)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634da2a76b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634da2a76b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634da2a76b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634da2a76b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🔁 </a:t>
            </a:r>
            <a:r>
              <a:rPr b="1" lang="es">
                <a:solidFill>
                  <a:schemeClr val="dk1"/>
                </a:solidFill>
              </a:rPr>
              <a:t>Estructura general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ciclo </a:t>
            </a:r>
            <a:r>
              <a:rPr b="1" lang="es">
                <a:solidFill>
                  <a:schemeClr val="dk1"/>
                </a:solidFill>
              </a:rPr>
              <a:t>no incrementa ni decrementa de forma lineal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La variable de control cambia de manera </a:t>
            </a:r>
            <a:r>
              <a:rPr b="1" lang="es">
                <a:solidFill>
                  <a:schemeClr val="dk1"/>
                </a:solidFill>
              </a:rPr>
              <a:t>no aritmética</a:t>
            </a:r>
            <a:r>
              <a:rPr lang="es">
                <a:solidFill>
                  <a:schemeClr val="dk1"/>
                </a:solidFill>
              </a:rPr>
              <a:t>, sino </a:t>
            </a:r>
            <a:r>
              <a:rPr b="1" lang="es">
                <a:solidFill>
                  <a:schemeClr val="dk1"/>
                </a:solidFill>
              </a:rPr>
              <a:t>funcional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🚀 </a:t>
            </a:r>
            <a:r>
              <a:rPr b="1" lang="es">
                <a:solidFill>
                  <a:schemeClr val="dk1"/>
                </a:solidFill>
              </a:rPr>
              <a:t>Primer caso (</a:t>
            </a:r>
            <a:r>
              <a:rPr b="1"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= pow(i, c)</a:t>
            </a:r>
            <a:r>
              <a:rPr b="1" lang="es">
                <a:solidFill>
                  <a:schemeClr val="dk1"/>
                </a:solidFill>
              </a:rPr>
              <a:t>, con </a:t>
            </a:r>
            <a:r>
              <a:rPr b="1"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 &gt; 1</a:t>
            </a:r>
            <a:r>
              <a:rPr b="1" lang="es">
                <a:solidFill>
                  <a:schemeClr val="dk1"/>
                </a:solidFill>
              </a:rPr>
              <a:t>)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En cada iteración,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 se eleva a una </a:t>
            </a:r>
            <a:r>
              <a:rPr b="1" lang="es">
                <a:solidFill>
                  <a:schemeClr val="dk1"/>
                </a:solidFill>
              </a:rPr>
              <a:t>potencia constante mayor que 1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crecimiento de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 es </a:t>
            </a:r>
            <a:r>
              <a:rPr b="1" lang="es">
                <a:solidFill>
                  <a:schemeClr val="dk1"/>
                </a:solidFill>
              </a:rPr>
              <a:t>exponencial sobre exponencial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Ejemplo: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= 2 → 2² → 4² → 16² → 256² → …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📐 </a:t>
            </a:r>
            <a:r>
              <a:rPr b="1" lang="es">
                <a:solidFill>
                  <a:schemeClr val="dk1"/>
                </a:solidFill>
              </a:rPr>
              <a:t>Número de iteraciones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Queremos saber cuántas veces se debe aplicar la potencia para que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≥ n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Esto se modela como: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c^k ≈ log n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Al despejar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">
                <a:solidFill>
                  <a:schemeClr val="dk1"/>
                </a:solidFill>
              </a:rPr>
              <a:t>, se obtiene:</a:t>
            </a:r>
            <a:br>
              <a:rPr lang="es">
                <a:solidFill>
                  <a:schemeClr val="dk1"/>
                </a:solidFill>
              </a:rPr>
            </a:br>
            <a:r>
              <a:rPr b="1" lang="es">
                <a:solidFill>
                  <a:schemeClr val="dk1"/>
                </a:solidFill>
              </a:rPr>
              <a:t>k = O(log log n)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🔄 </a:t>
            </a:r>
            <a:r>
              <a:rPr b="1" lang="es">
                <a:solidFill>
                  <a:schemeClr val="dk1"/>
                </a:solidFill>
              </a:rPr>
              <a:t>Segundo caso (</a:t>
            </a:r>
            <a:r>
              <a:rPr b="1"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= fun(i)</a:t>
            </a:r>
            <a:r>
              <a:rPr b="1" lang="es">
                <a:solidFill>
                  <a:schemeClr val="dk1"/>
                </a:solidFill>
              </a:rPr>
              <a:t>)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fun(i)</a:t>
            </a:r>
            <a:r>
              <a:rPr lang="es">
                <a:solidFill>
                  <a:schemeClr val="dk1"/>
                </a:solidFill>
              </a:rPr>
              <a:t> representa una </a:t>
            </a:r>
            <a:r>
              <a:rPr b="1" lang="es">
                <a:solidFill>
                  <a:schemeClr val="dk1"/>
                </a:solidFill>
              </a:rPr>
              <a:t>raíz constante</a:t>
            </a:r>
            <a:r>
              <a:rPr lang="es">
                <a:solidFill>
                  <a:schemeClr val="dk1"/>
                </a:solidFill>
              </a:rPr>
              <a:t> (√i, ∛i, etc.).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En cada iteración,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 se reduce </a:t>
            </a:r>
            <a:r>
              <a:rPr b="1" lang="es">
                <a:solidFill>
                  <a:schemeClr val="dk1"/>
                </a:solidFill>
              </a:rPr>
              <a:t>drásticamente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Ejemplo con raíz cuadrada: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→ √n → ⁴√n → ⁸√n → …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📉 </a:t>
            </a:r>
            <a:r>
              <a:rPr b="1" lang="es">
                <a:solidFill>
                  <a:schemeClr val="dk1"/>
                </a:solidFill>
              </a:rPr>
              <a:t>Reducción progresiva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Tras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">
                <a:solidFill>
                  <a:schemeClr val="dk1"/>
                </a:solidFill>
              </a:rPr>
              <a:t> iteraciones: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= n^(1/2^k)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ciclo termina cuando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≈ 1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Resolviendo: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2^k ≈ log n</a:t>
            </a:r>
            <a:r>
              <a:rPr lang="es">
                <a:solidFill>
                  <a:schemeClr val="dk1"/>
                </a:solidFill>
              </a:rPr>
              <a:t> → </a:t>
            </a:r>
            <a:r>
              <a:rPr b="1" lang="es">
                <a:solidFill>
                  <a:schemeClr val="dk1"/>
                </a:solidFill>
              </a:rPr>
              <a:t>k = O(log log n)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⚙️ </a:t>
            </a:r>
            <a:r>
              <a:rPr b="1" lang="es">
                <a:solidFill>
                  <a:schemeClr val="dk1"/>
                </a:solidFill>
              </a:rPr>
              <a:t>Costo interno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Las operaciones dentro del ciclo son </a:t>
            </a:r>
            <a:r>
              <a:rPr b="1" lang="es">
                <a:solidFill>
                  <a:schemeClr val="dk1"/>
                </a:solidFill>
              </a:rPr>
              <a:t>O(1)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No alteran la complejidad final.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✅ </a:t>
            </a:r>
            <a:r>
              <a:rPr b="1" lang="es">
                <a:solidFill>
                  <a:schemeClr val="dk1"/>
                </a:solidFill>
              </a:rPr>
              <a:t>Conclusión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Debido al </a:t>
            </a:r>
            <a:r>
              <a:rPr b="1" lang="es">
                <a:solidFill>
                  <a:schemeClr val="dk1"/>
                </a:solidFill>
              </a:rPr>
              <a:t>crecimiento o decrecimiento ultra-rápido</a:t>
            </a:r>
            <a:r>
              <a:rPr lang="es">
                <a:solidFill>
                  <a:schemeClr val="dk1"/>
                </a:solidFill>
              </a:rPr>
              <a:t> de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número de iteraciones crece como </a:t>
            </a:r>
            <a:r>
              <a:rPr b="1" lang="es">
                <a:solidFill>
                  <a:schemeClr val="dk1"/>
                </a:solidFill>
              </a:rPr>
              <a:t>log log n</a:t>
            </a:r>
            <a:r>
              <a:rPr lang="es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por lo tanto, la </a:t>
            </a:r>
            <a:r>
              <a:rPr b="1" lang="es">
                <a:solidFill>
                  <a:schemeClr val="dk1"/>
                </a:solidFill>
              </a:rPr>
              <a:t>complejidad temporal es O(log log n)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634da2a76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634da2a76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634da2a76b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634da2a76b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634da2a76b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634da2a76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34da2a76b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634da2a76b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🔁 </a:t>
            </a:r>
            <a:r>
              <a:rPr b="1" lang="es">
                <a:solidFill>
                  <a:schemeClr val="dk1"/>
                </a:solidFill>
              </a:rPr>
              <a:t>Estructura del ciclo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>
                <a:solidFill>
                  <a:schemeClr val="dk1"/>
                </a:solidFill>
              </a:rPr>
              <a:t> recorre el rango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range(1, n+1, 2)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📏 </a:t>
            </a:r>
            <a:r>
              <a:rPr b="1" lang="es">
                <a:solidFill>
                  <a:schemeClr val="dk1"/>
                </a:solidFill>
              </a:rPr>
              <a:t>Cómo avanza la variable de control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Empieza en </a:t>
            </a:r>
            <a:r>
              <a:rPr b="1" lang="es">
                <a:solidFill>
                  <a:schemeClr val="dk1"/>
                </a:solidFill>
              </a:rPr>
              <a:t>1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Aumenta de </a:t>
            </a:r>
            <a:r>
              <a:rPr b="1" lang="es">
                <a:solidFill>
                  <a:schemeClr val="dk1"/>
                </a:solidFill>
              </a:rPr>
              <a:t>2 en 2</a:t>
            </a:r>
            <a:r>
              <a:rPr lang="es">
                <a:solidFill>
                  <a:schemeClr val="dk1"/>
                </a:solidFill>
              </a:rPr>
              <a:t> en cada iteración (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step = 2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Termina cuando alcanza o supera </a:t>
            </a:r>
            <a:r>
              <a:rPr b="1" lang="es">
                <a:solidFill>
                  <a:schemeClr val="dk1"/>
                </a:solidFill>
              </a:rPr>
              <a:t>n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🔢 </a:t>
            </a:r>
            <a:r>
              <a:rPr b="1" lang="es">
                <a:solidFill>
                  <a:schemeClr val="dk1"/>
                </a:solidFill>
              </a:rPr>
              <a:t>Número de iteraciones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total de valores recorridos es aproximadamente: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/ 2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En notación Big-O, los </a:t>
            </a:r>
            <a:r>
              <a:rPr b="1" lang="es">
                <a:solidFill>
                  <a:schemeClr val="dk1"/>
                </a:solidFill>
              </a:rPr>
              <a:t>factores constantes se ignoran</a:t>
            </a:r>
            <a:r>
              <a:rPr lang="es">
                <a:solidFill>
                  <a:schemeClr val="dk1"/>
                </a:solidFill>
              </a:rPr>
              <a:t>, por lo que: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/ 2 → O(n)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⚙️ </a:t>
            </a:r>
            <a:r>
              <a:rPr b="1" lang="es">
                <a:solidFill>
                  <a:schemeClr val="dk1"/>
                </a:solidFill>
              </a:rPr>
              <a:t>Operaciones internas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Dentro del ciclo solo hay una operación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Esta operación es </a:t>
            </a:r>
            <a:r>
              <a:rPr b="1" lang="es">
                <a:solidFill>
                  <a:schemeClr val="dk1"/>
                </a:solidFill>
              </a:rPr>
              <a:t>O(1)</a:t>
            </a:r>
            <a:r>
              <a:rPr lang="es">
                <a:solidFill>
                  <a:schemeClr val="dk1"/>
                </a:solidFill>
              </a:rPr>
              <a:t> por iteración.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❌ </a:t>
            </a:r>
            <a:r>
              <a:rPr b="1" lang="es">
                <a:solidFill>
                  <a:schemeClr val="dk1"/>
                </a:solidFill>
              </a:rPr>
              <a:t>Por qué NO es O(log n)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O(log n) ocurre cuando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 se </a:t>
            </a:r>
            <a:r>
              <a:rPr b="1" lang="es">
                <a:solidFill>
                  <a:schemeClr val="dk1"/>
                </a:solidFill>
              </a:rPr>
              <a:t>multiplica o divide</a:t>
            </a:r>
            <a:r>
              <a:rPr lang="es">
                <a:solidFill>
                  <a:schemeClr val="dk1"/>
                </a:solidFill>
              </a:rPr>
              <a:t> en cada iteración (por ejemplo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*= 2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Aquí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se incrementa de forma aditiva</a:t>
            </a:r>
            <a:r>
              <a:rPr lang="es">
                <a:solidFill>
                  <a:schemeClr val="dk1"/>
                </a:solidFill>
              </a:rPr>
              <a:t>, no multiplicativa.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🧠 </a:t>
            </a:r>
            <a:r>
              <a:rPr b="1" lang="es">
                <a:solidFill>
                  <a:schemeClr val="dk1"/>
                </a:solidFill>
              </a:rPr>
              <a:t>Regla clave para reconocerlo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Incrementos constantes (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+1</a:t>
            </a:r>
            <a:r>
              <a:rPr lang="es">
                <a:solidFill>
                  <a:schemeClr val="dk1"/>
                </a:solidFill>
              </a:rPr>
              <a:t>,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+2</a:t>
            </a:r>
            <a:r>
              <a:rPr lang="es">
                <a:solidFill>
                  <a:schemeClr val="dk1"/>
                </a:solidFill>
              </a:rPr>
              <a:t>,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+k</a:t>
            </a:r>
            <a:r>
              <a:rPr lang="es">
                <a:solidFill>
                  <a:schemeClr val="dk1"/>
                </a:solidFill>
              </a:rPr>
              <a:t>) ⇒ </a:t>
            </a:r>
            <a:r>
              <a:rPr b="1" lang="es">
                <a:solidFill>
                  <a:schemeClr val="dk1"/>
                </a:solidFill>
              </a:rPr>
              <a:t>O(n)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Incrementos multiplicativos (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*2</a:t>
            </a:r>
            <a:r>
              <a:rPr lang="es">
                <a:solidFill>
                  <a:schemeClr val="dk1"/>
                </a:solidFill>
              </a:rPr>
              <a:t>,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/2</a:t>
            </a:r>
            <a:r>
              <a:rPr lang="es">
                <a:solidFill>
                  <a:schemeClr val="dk1"/>
                </a:solidFill>
              </a:rPr>
              <a:t>) ⇒ </a:t>
            </a:r>
            <a:r>
              <a:rPr b="1" lang="es">
                <a:solidFill>
                  <a:schemeClr val="dk1"/>
                </a:solidFill>
              </a:rPr>
              <a:t>O(log n)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✅ </a:t>
            </a:r>
            <a:r>
              <a:rPr b="1" lang="es">
                <a:solidFill>
                  <a:schemeClr val="dk1"/>
                </a:solidFill>
              </a:rPr>
              <a:t>Conclusión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ciclo ejecuta una cantidad de pasos proporcional a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Por tanto, la </a:t>
            </a:r>
            <a:r>
              <a:rPr b="1" lang="es">
                <a:solidFill>
                  <a:schemeClr val="dk1"/>
                </a:solidFill>
              </a:rPr>
              <a:t>complejidad temporal es O(n)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634da2a76b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634da2a76b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634da2a76b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634da2a76b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🔁 </a:t>
            </a:r>
            <a:r>
              <a:rPr b="1" lang="es">
                <a:solidFill>
                  <a:schemeClr val="dk1"/>
                </a:solidFill>
              </a:rPr>
              <a:t>Estructura del ciclo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j in range(2, n+1)</a:t>
            </a:r>
            <a:r>
              <a:rPr lang="es">
                <a:solidFill>
                  <a:schemeClr val="dk1"/>
                </a:solidFill>
              </a:rPr>
              <a:t> define un </a:t>
            </a:r>
            <a:r>
              <a:rPr b="1" lang="es">
                <a:solidFill>
                  <a:schemeClr val="dk1"/>
                </a:solidFill>
              </a:rPr>
              <a:t>límite superior</a:t>
            </a:r>
            <a:r>
              <a:rPr lang="es">
                <a:solidFill>
                  <a:schemeClr val="dk1"/>
                </a:solidFill>
              </a:rPr>
              <a:t>, pero </a:t>
            </a:r>
            <a:r>
              <a:rPr b="1" lang="es">
                <a:solidFill>
                  <a:schemeClr val="dk1"/>
                </a:solidFill>
              </a:rPr>
              <a:t>no controla realmente</a:t>
            </a:r>
            <a:r>
              <a:rPr lang="es">
                <a:solidFill>
                  <a:schemeClr val="dk1"/>
                </a:solidFill>
              </a:rPr>
              <a:t> cuántas iteraciones se ejecutan.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ciclo termina antes debido al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🧭 </a:t>
            </a:r>
            <a:r>
              <a:rPr b="1" lang="es">
                <a:solidFill>
                  <a:schemeClr val="dk1"/>
                </a:solidFill>
              </a:rPr>
              <a:t>Variable clave para la complejidad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La variable que determina cuándo se detiene el ciclo es </a:t>
            </a:r>
            <a:r>
              <a:rPr b="1"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, no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🚀 </a:t>
            </a:r>
            <a:r>
              <a:rPr b="1" lang="es">
                <a:solidFill>
                  <a:schemeClr val="dk1"/>
                </a:solidFill>
              </a:rPr>
              <a:t>Evolución de </a:t>
            </a:r>
            <a:r>
              <a:rPr b="1"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Inicialmente: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= 2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En cada iteración: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*= i</a:t>
            </a:r>
            <a:r>
              <a:rPr lang="es">
                <a:solidFill>
                  <a:schemeClr val="dk1"/>
                </a:solidFill>
              </a:rPr>
              <a:t> →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s">
                <a:solidFill>
                  <a:schemeClr val="dk1"/>
                </a:solidFill>
              </a:rPr>
              <a:t> se </a:t>
            </a:r>
            <a:r>
              <a:rPr b="1" lang="es">
                <a:solidFill>
                  <a:schemeClr val="dk1"/>
                </a:solidFill>
              </a:rPr>
              <a:t>cuadra a sí misma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Secuencia típica: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 → 4 → 16 → 256 → 65536 → …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📐 </a:t>
            </a:r>
            <a:r>
              <a:rPr b="1" lang="es">
                <a:solidFill>
                  <a:schemeClr val="dk1"/>
                </a:solidFill>
              </a:rPr>
              <a:t>Crecimiento ultra-exponencial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Después de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">
                <a:solidFill>
                  <a:schemeClr val="dk1"/>
                </a:solidFill>
              </a:rPr>
              <a:t> iteraciones: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= 2^(2^k)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crecimiento es </a:t>
            </a:r>
            <a:r>
              <a:rPr b="1" lang="es">
                <a:solidFill>
                  <a:schemeClr val="dk1"/>
                </a:solidFill>
              </a:rPr>
              <a:t>mucho más rápido</a:t>
            </a:r>
            <a:r>
              <a:rPr lang="es">
                <a:solidFill>
                  <a:schemeClr val="dk1"/>
                </a:solidFill>
              </a:rPr>
              <a:t> que exponencial.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⛔ </a:t>
            </a:r>
            <a:r>
              <a:rPr b="1" lang="es">
                <a:solidFill>
                  <a:schemeClr val="dk1"/>
                </a:solidFill>
              </a:rPr>
              <a:t>Condición de parada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ciclo se detiene cuando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≥ n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🔍 </a:t>
            </a:r>
            <a:r>
              <a:rPr b="1" lang="es">
                <a:solidFill>
                  <a:schemeClr val="dk1"/>
                </a:solidFill>
              </a:rPr>
              <a:t>Cálculo del número de iteraciones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Queremos el menor 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">
                <a:solidFill>
                  <a:schemeClr val="dk1"/>
                </a:solidFill>
              </a:rPr>
              <a:t> tal que: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2^(2^k) ≥ n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Tomando logaritmos: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2^k ≥ log n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 ≥ log log n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⚙️ </a:t>
            </a:r>
            <a:r>
              <a:rPr b="1" lang="es">
                <a:solidFill>
                  <a:schemeClr val="dk1"/>
                </a:solidFill>
              </a:rPr>
              <a:t>Costo por iteración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Dentro del ciclo solo hay operaciones </a:t>
            </a:r>
            <a:r>
              <a:rPr b="1" lang="es">
                <a:solidFill>
                  <a:schemeClr val="dk1"/>
                </a:solidFill>
              </a:rPr>
              <a:t>O(1)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s">
                <a:solidFill>
                  <a:schemeClr val="dk1"/>
                </a:solidFill>
              </a:rPr>
              <a:t>, comparación y multiplicación).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❌ </a:t>
            </a:r>
            <a:r>
              <a:rPr b="1" lang="es">
                <a:solidFill>
                  <a:schemeClr val="dk1"/>
                </a:solidFill>
              </a:rPr>
              <a:t>Por qué no es O(log n)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En O(log n), la variable se multiplica por una constante (</a:t>
            </a: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 *= 2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Aquí la variable se </a:t>
            </a:r>
            <a:r>
              <a:rPr b="1" lang="es">
                <a:solidFill>
                  <a:schemeClr val="dk1"/>
                </a:solidFill>
              </a:rPr>
              <a:t>eleva al cuadrado</a:t>
            </a:r>
            <a:r>
              <a:rPr lang="es">
                <a:solidFill>
                  <a:schemeClr val="dk1"/>
                </a:solidFill>
              </a:rPr>
              <a:t>, acelerando aún más el crecimiento.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✅ </a:t>
            </a:r>
            <a:r>
              <a:rPr b="1" lang="es">
                <a:solidFill>
                  <a:schemeClr val="dk1"/>
                </a:solidFill>
              </a:rPr>
              <a:t>Conclusión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El número de iteraciones crece proporcionalmente a </a:t>
            </a:r>
            <a:r>
              <a:rPr b="1" lang="es">
                <a:solidFill>
                  <a:schemeClr val="dk1"/>
                </a:solidFill>
              </a:rPr>
              <a:t>log log n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Por tanto, la </a:t>
            </a:r>
            <a:r>
              <a:rPr b="1" lang="es">
                <a:solidFill>
                  <a:schemeClr val="dk1"/>
                </a:solidFill>
              </a:rPr>
              <a:t>complejidad temporal es O(log log n)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634da2a76b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634da2a76b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634da2a76b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634da2a76b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634da2a76b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634da2a76b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634da2a76b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634da2a76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634da2a76b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634da2a76b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634da2a76b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634da2a76b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634da2a76b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634da2a76b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634da2a76b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634da2a76b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634da2a76b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634da2a76b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634da2a76b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634da2a76b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34da2a76b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634da2a76b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634da2a76b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634da2a76b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634da2a76b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634da2a76b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634da2a76b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634da2a76b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634da2a76b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634da2a76b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634da2a76b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634da2a76b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634da2a76b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634da2a76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634da2a76b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634da2a76b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634da2a76b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634da2a76b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634da2a76b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634da2a76b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634da2a76b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634da2a76b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634da2a76b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3634da2a76b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634da2a76b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634da2a76b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634da2a76b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634da2a76b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634da2a76b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634da2a76b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634da2a76b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634da2a76b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634da2a76b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634da2a76b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634da2a76b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634da2a76b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712c58a9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712c58a9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712c58a90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712c58a90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712c58a90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712c58a90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712c58a90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712c58a90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712c58a90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712c58a90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712c58a90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712c58a90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712c58a90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712c58a90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712c58a90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712c58a90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712c58a90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3712c58a90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633be95b6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633be95b6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hyperlink" Target="https://personal.us.es/drorganvidez/wp-content/uploads/2023/01/ANALISIS-DE-COMPLEJIDAD-teoria-y-ejercicios-resueltos-1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hyperlink" Target="https://personal.us.es/drorganvidez/wp-content/uploads/2023/01/ANALISIS-DE-COMPLEJIDAD-teoria-y-ejercicios-resueltos-1.pdf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bigocheatsheet.com/" TargetMode="External"/><Relationship Id="rId4" Type="http://schemas.openxmlformats.org/officeDocument/2006/relationships/hyperlink" Target="https://www.bigocheatsheet.com/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bigocheatsheet.com/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png"/><Relationship Id="rId4" Type="http://schemas.openxmlformats.org/officeDocument/2006/relationships/image" Target="../media/image44.png"/><Relationship Id="rId5" Type="http://schemas.openxmlformats.org/officeDocument/2006/relationships/image" Target="../media/image56.png"/><Relationship Id="rId6" Type="http://schemas.openxmlformats.org/officeDocument/2006/relationships/image" Target="../media/image43.png"/><Relationship Id="rId7" Type="http://schemas.openxmlformats.org/officeDocument/2006/relationships/image" Target="../media/image47.png"/><Relationship Id="rId8" Type="http://schemas.openxmlformats.org/officeDocument/2006/relationships/image" Target="../media/image4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6.png"/><Relationship Id="rId4" Type="http://schemas.openxmlformats.org/officeDocument/2006/relationships/image" Target="../media/image44.png"/><Relationship Id="rId5" Type="http://schemas.openxmlformats.org/officeDocument/2006/relationships/image" Target="../media/image56.png"/><Relationship Id="rId6" Type="http://schemas.openxmlformats.org/officeDocument/2006/relationships/image" Target="../media/image43.png"/><Relationship Id="rId7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6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8.png"/><Relationship Id="rId4" Type="http://schemas.openxmlformats.org/officeDocument/2006/relationships/image" Target="../media/image6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0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4.png"/><Relationship Id="rId4" Type="http://schemas.openxmlformats.org/officeDocument/2006/relationships/image" Target="../media/image60.png"/><Relationship Id="rId5" Type="http://schemas.openxmlformats.org/officeDocument/2006/relationships/image" Target="../media/image69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4.png"/><Relationship Id="rId4" Type="http://schemas.openxmlformats.org/officeDocument/2006/relationships/image" Target="../media/image60.png"/><Relationship Id="rId5" Type="http://schemas.openxmlformats.org/officeDocument/2006/relationships/image" Target="../media/image69.png"/><Relationship Id="rId6" Type="http://schemas.openxmlformats.org/officeDocument/2006/relationships/image" Target="../media/image8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3.png"/><Relationship Id="rId4" Type="http://schemas.openxmlformats.org/officeDocument/2006/relationships/image" Target="../media/image60.png"/><Relationship Id="rId5" Type="http://schemas.openxmlformats.org/officeDocument/2006/relationships/image" Target="../media/image6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6.png"/><Relationship Id="rId4" Type="http://schemas.openxmlformats.org/officeDocument/2006/relationships/image" Target="../media/image60.png"/><Relationship Id="rId5" Type="http://schemas.openxmlformats.org/officeDocument/2006/relationships/image" Target="../media/image6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7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7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75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82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82.png"/><Relationship Id="rId6" Type="http://schemas.openxmlformats.org/officeDocument/2006/relationships/image" Target="../media/image87.png"/><Relationship Id="rId7" Type="http://schemas.openxmlformats.org/officeDocument/2006/relationships/image" Target="../media/image79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82.png"/><Relationship Id="rId6" Type="http://schemas.openxmlformats.org/officeDocument/2006/relationships/image" Target="../media/image87.png"/><Relationship Id="rId7" Type="http://schemas.openxmlformats.org/officeDocument/2006/relationships/image" Target="../media/image79.png"/><Relationship Id="rId8" Type="http://schemas.openxmlformats.org/officeDocument/2006/relationships/image" Target="../media/image77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1.png"/><Relationship Id="rId4" Type="http://schemas.openxmlformats.org/officeDocument/2006/relationships/hyperlink" Target="https://dev.to/mwong068/big-o-space-complexity-lcm" TargetMode="Externa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9.png"/><Relationship Id="rId4" Type="http://schemas.openxmlformats.org/officeDocument/2006/relationships/hyperlink" Target="https://dev.to/mwong068/big-o-space-complexity-lcm" TargetMode="Externa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84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6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83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90.png"/><Relationship Id="rId4" Type="http://schemas.openxmlformats.org/officeDocument/2006/relationships/hyperlink" Target="https://dev.to/mwong068/big-o-space-complexity-lcm" TargetMode="External"/><Relationship Id="rId5" Type="http://schemas.openxmlformats.org/officeDocument/2006/relationships/hyperlink" Target="https://www.youtube.com/watch?v=yOb0BL-84h8" TargetMode="Externa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hyperlink" Target="https://www.youtube.com/watch?v=0D2-sYen23E" TargetMode="External"/><Relationship Id="rId4" Type="http://schemas.openxmlformats.org/officeDocument/2006/relationships/hyperlink" Target="https://dev.to/mwong068/big-o-space-complexity-lcm" TargetMode="External"/><Relationship Id="rId5" Type="http://schemas.openxmlformats.org/officeDocument/2006/relationships/hyperlink" Target="https://www.youtube.com/watch?v=yOb0BL-84h8" TargetMode="Externa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hyperlink" Target="https://medium.com/@pnandhiniofficial/time-and-space-complexity-a-beginners-guide-88d617d29d01" TargetMode="External"/><Relationship Id="rId4" Type="http://schemas.openxmlformats.org/officeDocument/2006/relationships/hyperlink" Target="https://www.wscubetech.com/resources/dsa/space-complex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y Diseño de Algoritmos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Johnathan Calle, PhD.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	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¿Qué es?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algorítmico	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¿Cómo se representa?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algorítmico	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¿Cómo se representa?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058" y="2855475"/>
            <a:ext cx="5221475" cy="18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algorítmico	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¿Cómo se representa?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263" y="2974931"/>
            <a:ext cx="5221474" cy="1786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algorítmico	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¿Cómo se representa?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271" y="2834975"/>
            <a:ext cx="5221449" cy="2184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algorítmico	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¿Cómo se representa?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271" y="2721392"/>
            <a:ext cx="5221451" cy="2361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algorítmica	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298" y="2438938"/>
            <a:ext cx="6811424" cy="15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algorítmica	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¿Cómo se representa?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grpSp>
        <p:nvGrpSpPr>
          <p:cNvPr id="153" name="Google Shape;153;p22"/>
          <p:cNvGrpSpPr/>
          <p:nvPr/>
        </p:nvGrpSpPr>
        <p:grpSpPr>
          <a:xfrm>
            <a:off x="151940" y="2821795"/>
            <a:ext cx="4543178" cy="2118896"/>
            <a:chOff x="552613" y="1300163"/>
            <a:chExt cx="8005600" cy="3733738"/>
          </a:xfrm>
        </p:grpSpPr>
        <p:pic>
          <p:nvPicPr>
            <p:cNvPr id="154" name="Google Shape;154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788" y="1300163"/>
              <a:ext cx="7972425" cy="2543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2613" y="3719450"/>
              <a:ext cx="7972425" cy="13144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6" name="Google Shape;15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7150" y="3029250"/>
            <a:ext cx="4116400" cy="17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algorítmica	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Ejercicio </a:t>
            </a:r>
            <a:r>
              <a:rPr lang="es" sz="2500"/>
              <a:t>- </a:t>
            </a:r>
            <a:r>
              <a:rPr lang="es" sz="2500"/>
              <a:t>0,1 (c/ literal)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838" y="2722225"/>
            <a:ext cx="6280326" cy="16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729450" y="1908750"/>
            <a:ext cx="76887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Dos algoritmos diferentes </a:t>
            </a:r>
            <a:r>
              <a:rPr b="1" lang="es" sz="1400"/>
              <a:t>(A₀ y A₁)</a:t>
            </a:r>
            <a:r>
              <a:rPr lang="es" sz="1400"/>
              <a:t> pueden resolver correctamente un mismo problema, pero no necesariamente con la misma eficiencia.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Análisis asintótico</a:t>
            </a:r>
            <a:r>
              <a:rPr lang="es" sz="1400"/>
              <a:t>: Herramienta matemática que permite evaluar objetivamente cuál algoritmo es más eficiente, considerando tiempo y memoria usados.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Independiente </a:t>
            </a:r>
            <a:r>
              <a:rPr lang="es" sz="1400"/>
              <a:t>del lenguaje o arquitectura específica; busca </a:t>
            </a:r>
            <a:r>
              <a:rPr b="1" lang="es" sz="1400"/>
              <a:t>generalizar </a:t>
            </a:r>
            <a:r>
              <a:rPr lang="es" sz="1400"/>
              <a:t>resultados para </a:t>
            </a:r>
            <a:r>
              <a:rPr b="1" lang="es" sz="1400"/>
              <a:t>comparar </a:t>
            </a:r>
            <a:r>
              <a:rPr lang="es" sz="1400"/>
              <a:t>algoritmos.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729450" y="1908750"/>
            <a:ext cx="76887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Un algoritmo eficiente usa </a:t>
            </a:r>
            <a:r>
              <a:rPr b="1" lang="es" sz="1400"/>
              <a:t>menos </a:t>
            </a:r>
            <a:r>
              <a:rPr lang="es" sz="1400"/>
              <a:t>instrucciones, tiempo o memoria.</a:t>
            </a:r>
            <a:endParaRPr sz="14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El reto principal es manejar problemas con </a:t>
            </a:r>
            <a:r>
              <a:rPr b="1" lang="es" sz="1400"/>
              <a:t>múltiples parámetros y casos infinitos</a:t>
            </a:r>
            <a:r>
              <a:rPr lang="es" sz="1400"/>
              <a:t>, evitando análisis específicos </a:t>
            </a:r>
            <a:r>
              <a:rPr b="1" lang="es" sz="1400"/>
              <a:t>demasiado detallados</a:t>
            </a:r>
            <a:r>
              <a:rPr lang="es" sz="1400"/>
              <a:t>.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Conceptos clave</a:t>
            </a:r>
            <a:r>
              <a:rPr lang="es" sz="1400"/>
              <a:t>: notación asintótica, complejidad temporal y espacial, comparación objetiva de algoritmos.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8" name="Google Shape;178;p25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</a:t>
            </a:r>
            <a:endParaRPr/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729450" y="1908750"/>
            <a:ext cx="76887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Medidas importantes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s" sz="1400"/>
              <a:t>Tamaño de la entrada</a:t>
            </a:r>
            <a:endParaRPr b="1"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5" name="Google Shape;185;p26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350" y="2714088"/>
            <a:ext cx="6948899" cy="13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El concepto de "</a:t>
            </a:r>
            <a:r>
              <a:rPr b="1" lang="es" sz="1400"/>
              <a:t>tamaño de entrada</a:t>
            </a:r>
            <a:r>
              <a:rPr lang="es" sz="1400"/>
              <a:t>" no es matemáticamente preciso ni tiene una </a:t>
            </a:r>
            <a:r>
              <a:rPr b="1" lang="es" sz="1400"/>
              <a:t>única unidad</a:t>
            </a:r>
            <a:r>
              <a:rPr lang="es" sz="1400"/>
              <a:t> estándar.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</a:t>
            </a:r>
            <a:r>
              <a:rPr lang="es" sz="1400"/>
              <a:t>jemplos comunes de medida incluyen: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Número de elementos en un arreglo.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Cantidad de bits que forman un número.</a:t>
            </a:r>
            <a:endParaRPr sz="14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No existe</a:t>
            </a:r>
            <a:r>
              <a:rPr lang="es" sz="1400"/>
              <a:t> un método automático universal para asignar tamaños de entrada.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Es clave desarrollar la habilidad para: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s" sz="1400"/>
              <a:t>Especificar </a:t>
            </a:r>
            <a:r>
              <a:rPr lang="es" sz="1400"/>
              <a:t>claramente los problemas algorítmicos.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I</a:t>
            </a:r>
            <a:r>
              <a:rPr b="1" lang="es" sz="1400"/>
              <a:t>dentificar parámetros </a:t>
            </a:r>
            <a:r>
              <a:rPr lang="es" sz="1400"/>
              <a:t>esenciales que </a:t>
            </a:r>
            <a:r>
              <a:rPr lang="es" sz="1400"/>
              <a:t>definen</a:t>
            </a:r>
            <a:r>
              <a:rPr lang="es" sz="1400"/>
              <a:t> el tamaño de entrada.</a:t>
            </a:r>
            <a:endParaRPr sz="1400"/>
          </a:p>
        </p:txBody>
      </p:sp>
      <p:sp>
        <p:nvSpPr>
          <p:cNvPr id="192" name="Google Shape;192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Tamaño de la entrada</a:t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Algunos ejemplos:</a:t>
            </a:r>
            <a:endParaRPr sz="14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Dado un arreglo de 10 números enteros, ordene el arreglo ¿cuál sería el tamaño de la entrada?</a:t>
            </a:r>
            <a:endParaRPr sz="1400"/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¿Cuál es el tamaño de entrada al calcular el factorial del número 20?</a:t>
            </a:r>
            <a:endParaRPr sz="1400"/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¿Cuál es el tamaño de entrada al multiplicar dos matrices de dimensiones 3x4 y 4x2?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9" name="Google Shape;199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Tamaño de la entrada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Algunos ejemplos:</a:t>
            </a:r>
            <a:endParaRPr sz="14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Dado un grafo con 6 nodos y 9 aristas, ¿cuál es el tamaño de entrada?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¿Cuál es el tamaño de la entrada para verificar si una cadena "algoritmo" es palíndromo?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06" name="Google Shape;206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Tamaño de la entrada</a:t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Es muy común usar procesadores de 64 bits para ejecutar algoritmos implementados en lenguajes de programación. Es decir, se soportan operaciones básicas de números de 64 bits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13" name="Google Shape;21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Tamaño de la entrada</a:t>
            </a:r>
            <a:endParaRPr/>
          </a:p>
        </p:txBody>
      </p:sp>
      <p:sp>
        <p:nvSpPr>
          <p:cNvPr id="214" name="Google Shape;214;p30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75" y="2994850"/>
            <a:ext cx="794385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Es muy común usar procesadores de 64 bits para ejecutar algoritmos implementados en lenguajes de programación. Es decir, se soportan operaciones básicas de números de 64 bits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1" name="Google Shape;221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Tamaño de la entrada</a:t>
            </a:r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138" y="2784050"/>
            <a:ext cx="694372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Notación</a:t>
            </a:r>
            <a:endParaRPr/>
          </a:p>
        </p:txBody>
      </p:sp>
      <p:sp>
        <p:nvSpPr>
          <p:cNvPr id="230" name="Google Shape;230;p32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3">
            <a:alphaModFix/>
          </a:blip>
          <a:srcRect b="49187" l="0" r="0" t="0"/>
          <a:stretch/>
        </p:blipFill>
        <p:spPr>
          <a:xfrm>
            <a:off x="1683650" y="1975100"/>
            <a:ext cx="5776701" cy="14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Notación</a:t>
            </a:r>
            <a:endParaRPr/>
          </a:p>
        </p:txBody>
      </p:sp>
      <p:sp>
        <p:nvSpPr>
          <p:cNvPr id="238" name="Google Shape;238;p33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239" name="Google Shape;2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3639" y="1975100"/>
            <a:ext cx="5776722" cy="28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5" name="Google Shape;245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Notación</a:t>
            </a:r>
            <a:endParaRPr/>
          </a:p>
        </p:txBody>
      </p:sp>
      <p:sp>
        <p:nvSpPr>
          <p:cNvPr id="246" name="Google Shape;246;p34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247" name="Google Shape;2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13" y="2225913"/>
            <a:ext cx="6429375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3" name="Google Shape;253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Notación</a:t>
            </a:r>
            <a:endParaRPr/>
          </a:p>
        </p:txBody>
      </p:sp>
      <p:pic>
        <p:nvPicPr>
          <p:cNvPr id="254" name="Google Shape;2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075" y="2069663"/>
            <a:ext cx="6267450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Big-O nos dice </a:t>
            </a:r>
            <a:r>
              <a:rPr b="1" lang="es" sz="1400"/>
              <a:t>qué tan rápido</a:t>
            </a:r>
            <a:r>
              <a:rPr lang="es" sz="1400"/>
              <a:t> crece una función en el peor caso.</a:t>
            </a:r>
            <a:endParaRPr sz="14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O(f(n)) agrupa </a:t>
            </a:r>
            <a:r>
              <a:rPr b="1" lang="es" sz="1400"/>
              <a:t>todas las funciones</a:t>
            </a:r>
            <a:r>
              <a:rPr lang="es" sz="1400"/>
              <a:t> que crecen como f(n) o </a:t>
            </a:r>
            <a:r>
              <a:rPr b="1" lang="es" sz="1400"/>
              <a:t>más</a:t>
            </a:r>
            <a:r>
              <a:rPr lang="es" sz="1400"/>
              <a:t> </a:t>
            </a:r>
            <a:r>
              <a:rPr b="1" lang="es" sz="1400"/>
              <a:t>lento</a:t>
            </a:r>
            <a:r>
              <a:rPr lang="es" sz="1400"/>
              <a:t>, hasta una constante.</a:t>
            </a:r>
            <a:endParaRPr sz="14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Si después de </a:t>
            </a:r>
            <a:r>
              <a:rPr b="1" lang="es" sz="1400"/>
              <a:t>cierto punto</a:t>
            </a:r>
            <a:r>
              <a:rPr lang="es" sz="1400"/>
              <a:t>, g(n) no supera a c × f(n), entonces g está en O(f).</a:t>
            </a:r>
            <a:endParaRPr sz="14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No nos importa cómo se comporta al inicio, </a:t>
            </a:r>
            <a:r>
              <a:rPr b="1" lang="es" sz="1400"/>
              <a:t>solo cuando n es grande.</a:t>
            </a:r>
            <a:endParaRPr b="1" sz="14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Big-O </a:t>
            </a:r>
            <a:r>
              <a:rPr b="1" lang="es" sz="1400"/>
              <a:t>ignora constantes y términos pequeños</a:t>
            </a:r>
            <a:r>
              <a:rPr lang="es" sz="1400"/>
              <a:t>, se queda con lo que </a:t>
            </a:r>
            <a:r>
              <a:rPr b="1" lang="es" sz="1400"/>
              <a:t>más crece</a:t>
            </a:r>
            <a:r>
              <a:rPr lang="es" sz="1400"/>
              <a:t>.</a:t>
            </a:r>
            <a:endParaRPr sz="1400"/>
          </a:p>
        </p:txBody>
      </p:sp>
      <p:sp>
        <p:nvSpPr>
          <p:cNvPr id="260" name="Google Shape;260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Notación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66" name="Google Shape;266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Cotas</a:t>
            </a:r>
            <a:endParaRPr/>
          </a:p>
        </p:txBody>
      </p:sp>
      <p:pic>
        <p:nvPicPr>
          <p:cNvPr id="267" name="Google Shape;26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713" y="2041138"/>
            <a:ext cx="7762875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7200" y="1975100"/>
            <a:ext cx="2685099" cy="21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7"/>
          <p:cNvSpPr txBox="1"/>
          <p:nvPr/>
        </p:nvSpPr>
        <p:spPr>
          <a:xfrm>
            <a:off x="0" y="48224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Adaptado de Romero (2019)</a:t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Jerarquía</a:t>
            </a:r>
            <a:endParaRPr sz="1400"/>
          </a:p>
        </p:txBody>
      </p:sp>
      <p:sp>
        <p:nvSpPr>
          <p:cNvPr id="275" name="Google Shape;275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Notación</a:t>
            </a:r>
            <a:endParaRPr/>
          </a:p>
        </p:txBody>
      </p:sp>
      <p:pic>
        <p:nvPicPr>
          <p:cNvPr id="276" name="Google Shape;27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825" y="2341524"/>
            <a:ext cx="7075550" cy="27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675" y="2381325"/>
            <a:ext cx="3972340" cy="23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8"/>
          <p:cNvSpPr txBox="1"/>
          <p:nvPr/>
        </p:nvSpPr>
        <p:spPr>
          <a:xfrm>
            <a:off x="0" y="48224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Adaptado de Romero (2019)</a:t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Jerarquía</a:t>
            </a:r>
            <a:endParaRPr sz="1400"/>
          </a:p>
        </p:txBody>
      </p:sp>
      <p:sp>
        <p:nvSpPr>
          <p:cNvPr id="284" name="Google Shape;284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Notación</a:t>
            </a:r>
            <a:endParaRPr/>
          </a:p>
        </p:txBody>
      </p:sp>
      <p:sp>
        <p:nvSpPr>
          <p:cNvPr id="285" name="Google Shape;285;p39"/>
          <p:cNvSpPr txBox="1"/>
          <p:nvPr/>
        </p:nvSpPr>
        <p:spPr>
          <a:xfrm>
            <a:off x="0" y="48224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Adaptado de </a:t>
            </a:r>
            <a:r>
              <a:rPr lang="es" sz="1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BigOCheat</a:t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03" y="1801325"/>
            <a:ext cx="4487176" cy="31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9074" y="2111610"/>
            <a:ext cx="4487175" cy="2710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Jerarquía</a:t>
            </a:r>
            <a:endParaRPr sz="1400"/>
          </a:p>
        </p:txBody>
      </p:sp>
      <p:sp>
        <p:nvSpPr>
          <p:cNvPr id="293" name="Google Shape;293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Notación</a:t>
            </a:r>
            <a:endParaRPr/>
          </a:p>
        </p:txBody>
      </p:sp>
      <p:sp>
        <p:nvSpPr>
          <p:cNvPr id="294" name="Google Shape;294;p40"/>
          <p:cNvSpPr txBox="1"/>
          <p:nvPr/>
        </p:nvSpPr>
        <p:spPr>
          <a:xfrm>
            <a:off x="0" y="48224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Adaptado de BigOCheat</a:t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95" name="Google Shape;29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03" y="1801325"/>
            <a:ext cx="4487176" cy="31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4150" y="2032601"/>
            <a:ext cx="3548801" cy="28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Constantes</a:t>
            </a:r>
            <a:endParaRPr sz="1400"/>
          </a:p>
        </p:txBody>
      </p:sp>
      <p:sp>
        <p:nvSpPr>
          <p:cNvPr id="302" name="Google Shape;302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303" name="Google Shape;30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775" y="2758200"/>
            <a:ext cx="6423629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Constantes</a:t>
            </a:r>
            <a:endParaRPr sz="1400"/>
          </a:p>
        </p:txBody>
      </p:sp>
      <p:sp>
        <p:nvSpPr>
          <p:cNvPr id="310" name="Google Shape;310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311" name="Google Shape;31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38" y="2858350"/>
            <a:ext cx="42195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2"/>
          <p:cNvSpPr txBox="1"/>
          <p:nvPr/>
        </p:nvSpPr>
        <p:spPr>
          <a:xfrm>
            <a:off x="5753850" y="2256250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O?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el tamaño de entrada?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¿Cuántas operaciones se hacen?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Constantes</a:t>
            </a:r>
            <a:endParaRPr sz="1400"/>
          </a:p>
        </p:txBody>
      </p:sp>
      <p:sp>
        <p:nvSpPr>
          <p:cNvPr id="318" name="Google Shape;318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319" name="Google Shape;3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38" y="2858350"/>
            <a:ext cx="42195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3"/>
          <p:cNvSpPr txBox="1"/>
          <p:nvPr/>
        </p:nvSpPr>
        <p:spPr>
          <a:xfrm>
            <a:off x="5753850" y="2818750"/>
            <a:ext cx="32583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 sz="1100">
                <a:latin typeface="Lato"/>
                <a:ea typeface="Lato"/>
                <a:cs typeface="Lato"/>
                <a:sym typeface="Lato"/>
              </a:rPr>
              <a:t>Si un algoritmo hace 10 veces más trabajo, pero ese trabajo sigue creciendo linealmente con n, entonces sigue siendo O(n).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 sz="1100">
                <a:latin typeface="Lato"/>
                <a:ea typeface="Lato"/>
                <a:cs typeface="Lato"/>
                <a:sym typeface="Lato"/>
              </a:rPr>
              <a:t>Multiplicar por una constante positiva no cambia el tipo de crecimiento.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 sz="1100">
                <a:latin typeface="Lato"/>
                <a:ea typeface="Lato"/>
                <a:cs typeface="Lato"/>
                <a:sym typeface="Lato"/>
              </a:rPr>
              <a:t>Regla clave: en notación Big-O, las constantes se eliminan.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Constantes</a:t>
            </a:r>
            <a:endParaRPr sz="1400"/>
          </a:p>
        </p:txBody>
      </p:sp>
      <p:sp>
        <p:nvSpPr>
          <p:cNvPr id="326" name="Google Shape;326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327" name="Google Shape;327;p44"/>
          <p:cNvSpPr txBox="1"/>
          <p:nvPr/>
        </p:nvSpPr>
        <p:spPr>
          <a:xfrm>
            <a:off x="5753850" y="2256250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O?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el tamaño de entrada?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¿Cuántas operaciones se hacen?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8" name="Google Shape;32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588" y="2571738"/>
            <a:ext cx="282892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Constantes</a:t>
            </a:r>
            <a:endParaRPr sz="1400"/>
          </a:p>
        </p:txBody>
      </p:sp>
      <p:sp>
        <p:nvSpPr>
          <p:cNvPr id="334" name="Google Shape;334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335" name="Google Shape;335;p45"/>
          <p:cNvSpPr txBox="1"/>
          <p:nvPr/>
        </p:nvSpPr>
        <p:spPr>
          <a:xfrm>
            <a:off x="4001275" y="2256250"/>
            <a:ext cx="4752600" cy="20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Entonces, ¿cuándo no ignorar c?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Cuando trabajas con sistemas de tiempo real o embebidos.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Cuando comparas algoritmos del mismo orden, pero uno tiene una constante mucho menor.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Cuando c es demasiado grande (p.ej. miles, millones).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Cuando el valor real de c depende de recursos como red, disco o paralelismo.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6" name="Google Shape;33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588" y="2571738"/>
            <a:ext cx="282892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6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Constantes</a:t>
            </a:r>
            <a:endParaRPr sz="1400"/>
          </a:p>
        </p:txBody>
      </p:sp>
      <p:sp>
        <p:nvSpPr>
          <p:cNvPr id="342" name="Google Shape;342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343" name="Google Shape;343;p46"/>
          <p:cNvSpPr txBox="1"/>
          <p:nvPr/>
        </p:nvSpPr>
        <p:spPr>
          <a:xfrm>
            <a:off x="4001275" y="2256250"/>
            <a:ext cx="47526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 tener en cuenta: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 teoría c no importa; en la práctica puede hacer tu algoritmo inutilizable.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Big-O ignora c, pero el usuario final no.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Dos algoritmos con misma complejidad pueden tener rendimientos muy diferentes si una c es enorme.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4" name="Google Shape;34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588" y="2571738"/>
            <a:ext cx="282892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Sumas</a:t>
            </a:r>
            <a:endParaRPr sz="1400"/>
          </a:p>
        </p:txBody>
      </p:sp>
      <p:sp>
        <p:nvSpPr>
          <p:cNvPr id="350" name="Google Shape;350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351" name="Google Shape;351;p47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352" name="Google Shape;35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100" y="2651673"/>
            <a:ext cx="6547799" cy="1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8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Sumas</a:t>
            </a:r>
            <a:endParaRPr sz="1400"/>
          </a:p>
        </p:txBody>
      </p:sp>
      <p:sp>
        <p:nvSpPr>
          <p:cNvPr id="358" name="Google Shape;358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359" name="Google Shape;3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300" y="0"/>
            <a:ext cx="33077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8"/>
          <p:cNvSpPr txBox="1"/>
          <p:nvPr/>
        </p:nvSpPr>
        <p:spPr>
          <a:xfrm>
            <a:off x="729450" y="29199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O?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el tamaño de entrada?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¿Cuántas operaciones se hacen?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48"/>
          <p:cNvSpPr/>
          <p:nvPr/>
        </p:nvSpPr>
        <p:spPr>
          <a:xfrm>
            <a:off x="6025500" y="395550"/>
            <a:ext cx="20640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" name="Google Shape;362;p48"/>
          <p:cNvSpPr/>
          <p:nvPr/>
        </p:nvSpPr>
        <p:spPr>
          <a:xfrm>
            <a:off x="6025500" y="1948300"/>
            <a:ext cx="20640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48"/>
          <p:cNvSpPr/>
          <p:nvPr/>
        </p:nvSpPr>
        <p:spPr>
          <a:xfrm>
            <a:off x="6111300" y="3169225"/>
            <a:ext cx="27681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48"/>
          <p:cNvSpPr/>
          <p:nvPr/>
        </p:nvSpPr>
        <p:spPr>
          <a:xfrm>
            <a:off x="7770250" y="2492100"/>
            <a:ext cx="6480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5" name="Google Shape;365;p48"/>
          <p:cNvSpPr/>
          <p:nvPr/>
        </p:nvSpPr>
        <p:spPr>
          <a:xfrm>
            <a:off x="7657175" y="3501050"/>
            <a:ext cx="6480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" name="Google Shape;366;p48"/>
          <p:cNvSpPr/>
          <p:nvPr/>
        </p:nvSpPr>
        <p:spPr>
          <a:xfrm>
            <a:off x="7597200" y="3699500"/>
            <a:ext cx="6480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Sumas</a:t>
            </a:r>
            <a:endParaRPr sz="1400"/>
          </a:p>
        </p:txBody>
      </p:sp>
      <p:sp>
        <p:nvSpPr>
          <p:cNvPr id="372" name="Google Shape;372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373" name="Google Shape;37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300" y="0"/>
            <a:ext cx="33077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9"/>
          <p:cNvSpPr txBox="1"/>
          <p:nvPr/>
        </p:nvSpPr>
        <p:spPr>
          <a:xfrm>
            <a:off x="729450" y="29199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O?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el tamaño de entrada?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¿Cuántas operaciones se hacen?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5" name="Google Shape;37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5850" y="4253925"/>
            <a:ext cx="39624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2475" y="1627725"/>
            <a:ext cx="29146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0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Sumas</a:t>
            </a:r>
            <a:endParaRPr sz="1400"/>
          </a:p>
        </p:txBody>
      </p:sp>
      <p:sp>
        <p:nvSpPr>
          <p:cNvPr id="382" name="Google Shape;382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383" name="Google Shape;383;p50"/>
          <p:cNvSpPr txBox="1"/>
          <p:nvPr/>
        </p:nvSpPr>
        <p:spPr>
          <a:xfrm>
            <a:off x="729450" y="29199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O?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el tamaño de entrada?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¿Cuántas operaciones se hacen?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" name="Google Shape;384;p50"/>
          <p:cNvSpPr/>
          <p:nvPr/>
        </p:nvSpPr>
        <p:spPr>
          <a:xfrm>
            <a:off x="7887625" y="4563450"/>
            <a:ext cx="8124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50"/>
          <p:cNvSpPr/>
          <p:nvPr/>
        </p:nvSpPr>
        <p:spPr>
          <a:xfrm>
            <a:off x="6815400" y="1694550"/>
            <a:ext cx="9888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50"/>
          <p:cNvSpPr/>
          <p:nvPr/>
        </p:nvSpPr>
        <p:spPr>
          <a:xfrm>
            <a:off x="6815400" y="2919925"/>
            <a:ext cx="13008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50"/>
          <p:cNvSpPr/>
          <p:nvPr/>
        </p:nvSpPr>
        <p:spPr>
          <a:xfrm>
            <a:off x="7715075" y="2492100"/>
            <a:ext cx="6480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8" name="Google Shape;388;p50"/>
          <p:cNvSpPr/>
          <p:nvPr/>
        </p:nvSpPr>
        <p:spPr>
          <a:xfrm>
            <a:off x="7887625" y="4354450"/>
            <a:ext cx="648000" cy="15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" name="Google Shape;389;p50"/>
          <p:cNvSpPr/>
          <p:nvPr/>
        </p:nvSpPr>
        <p:spPr>
          <a:xfrm>
            <a:off x="7656925" y="3719400"/>
            <a:ext cx="761100" cy="2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2475" y="1627725"/>
            <a:ext cx="29146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1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Sumas</a:t>
            </a:r>
            <a:endParaRPr sz="1400"/>
          </a:p>
        </p:txBody>
      </p:sp>
      <p:sp>
        <p:nvSpPr>
          <p:cNvPr id="396" name="Google Shape;396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397" name="Google Shape;397;p51"/>
          <p:cNvSpPr txBox="1"/>
          <p:nvPr/>
        </p:nvSpPr>
        <p:spPr>
          <a:xfrm>
            <a:off x="729450" y="2919925"/>
            <a:ext cx="3000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término más grande domina la complejidad total.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Cuando sumamos funciones de diferente orden, nos quedamos con la que crece más rápido.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2475" y="1627725"/>
            <a:ext cx="29146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2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Complejidad logarítmica</a:t>
            </a:r>
            <a:endParaRPr sz="1400"/>
          </a:p>
        </p:txBody>
      </p:sp>
      <p:sp>
        <p:nvSpPr>
          <p:cNvPr id="404" name="Google Shape;404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405" name="Google Shape;405;p52"/>
          <p:cNvSpPr txBox="1"/>
          <p:nvPr/>
        </p:nvSpPr>
        <p:spPr>
          <a:xfrm>
            <a:off x="729450" y="2919925"/>
            <a:ext cx="30000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" name="Google Shape;406;p52"/>
          <p:cNvSpPr/>
          <p:nvPr/>
        </p:nvSpPr>
        <p:spPr>
          <a:xfrm>
            <a:off x="5806475" y="2890975"/>
            <a:ext cx="2966700" cy="118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7" name="Google Shape;40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74" y="2362613"/>
            <a:ext cx="2836947" cy="26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1100" y="2752439"/>
            <a:ext cx="2914650" cy="167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9525" y="4869500"/>
            <a:ext cx="4960850" cy="2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Relación de orden</a:t>
            </a:r>
            <a:endParaRPr sz="1400"/>
          </a:p>
        </p:txBody>
      </p:sp>
      <p:sp>
        <p:nvSpPr>
          <p:cNvPr id="415" name="Google Shape;415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416" name="Google Shape;416;p53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417" name="Google Shape;41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497" y="2657275"/>
            <a:ext cx="5718999" cy="14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4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Relación de orden</a:t>
            </a:r>
            <a:endParaRPr sz="1400"/>
          </a:p>
        </p:txBody>
      </p:sp>
      <p:sp>
        <p:nvSpPr>
          <p:cNvPr id="423" name="Google Shape;423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424" name="Google Shape;42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2550" y="2156488"/>
            <a:ext cx="28956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4"/>
          <p:cNvSpPr/>
          <p:nvPr/>
        </p:nvSpPr>
        <p:spPr>
          <a:xfrm>
            <a:off x="6475950" y="2194125"/>
            <a:ext cx="770700" cy="16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54"/>
          <p:cNvSpPr/>
          <p:nvPr/>
        </p:nvSpPr>
        <p:spPr>
          <a:xfrm>
            <a:off x="7378300" y="3003575"/>
            <a:ext cx="770700" cy="16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" name="Google Shape;427;p54"/>
          <p:cNvSpPr/>
          <p:nvPr/>
        </p:nvSpPr>
        <p:spPr>
          <a:xfrm>
            <a:off x="6475950" y="3421425"/>
            <a:ext cx="810600" cy="16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8" name="Google Shape;428;p54"/>
          <p:cNvSpPr/>
          <p:nvPr/>
        </p:nvSpPr>
        <p:spPr>
          <a:xfrm>
            <a:off x="7358350" y="4449875"/>
            <a:ext cx="883800" cy="16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54"/>
          <p:cNvSpPr txBox="1"/>
          <p:nvPr/>
        </p:nvSpPr>
        <p:spPr>
          <a:xfrm>
            <a:off x="5793325" y="957375"/>
            <a:ext cx="3252000" cy="100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O?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el tamaño de entrada?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¿Cuántas operaciones se hacen?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más rápida?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5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Relación de orden</a:t>
            </a:r>
            <a:endParaRPr sz="1400"/>
          </a:p>
        </p:txBody>
      </p:sp>
      <p:sp>
        <p:nvSpPr>
          <p:cNvPr id="435" name="Google Shape;435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436" name="Google Shape;4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21" y="2638771"/>
            <a:ext cx="3691450" cy="21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2550" y="2156488"/>
            <a:ext cx="28956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5"/>
          <p:cNvSpPr txBox="1"/>
          <p:nvPr/>
        </p:nvSpPr>
        <p:spPr>
          <a:xfrm>
            <a:off x="5793325" y="957375"/>
            <a:ext cx="3252000" cy="100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O?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el tamaño de entrada?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¿Cuántas operaciones se hacen?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más rápida?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Relación de orden</a:t>
            </a:r>
            <a:endParaRPr sz="1400"/>
          </a:p>
        </p:txBody>
      </p:sp>
      <p:sp>
        <p:nvSpPr>
          <p:cNvPr id="444" name="Google Shape;444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445" name="Google Shape;44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2550" y="2156488"/>
            <a:ext cx="28956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6"/>
          <p:cNvSpPr txBox="1"/>
          <p:nvPr/>
        </p:nvSpPr>
        <p:spPr>
          <a:xfrm>
            <a:off x="5793325" y="957375"/>
            <a:ext cx="3252000" cy="100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O?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el tamaño de entrada?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¿Cuántas operaciones se hacen?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más rápida?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7" name="Google Shape;44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528" y="2805475"/>
            <a:ext cx="3189250" cy="181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Suma y Producto</a:t>
            </a:r>
            <a:endParaRPr sz="1400"/>
          </a:p>
        </p:txBody>
      </p:sp>
      <p:sp>
        <p:nvSpPr>
          <p:cNvPr id="453" name="Google Shape;453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454" name="Google Shape;454;p57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455" name="Google Shape;4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850" y="2543938"/>
            <a:ext cx="5204301" cy="17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8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Suma y Producto</a:t>
            </a:r>
            <a:endParaRPr sz="1400"/>
          </a:p>
        </p:txBody>
      </p:sp>
      <p:sp>
        <p:nvSpPr>
          <p:cNvPr id="461" name="Google Shape;461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pic>
        <p:nvPicPr>
          <p:cNvPr id="462" name="Google Shape;462;p58"/>
          <p:cNvPicPr preferRelativeResize="0"/>
          <p:nvPr/>
        </p:nvPicPr>
        <p:blipFill rotWithShape="1">
          <a:blip r:embed="rId3">
            <a:alphaModFix/>
          </a:blip>
          <a:srcRect b="0" l="0" r="0" t="9535"/>
          <a:stretch/>
        </p:blipFill>
        <p:spPr>
          <a:xfrm>
            <a:off x="4452550" y="2025525"/>
            <a:ext cx="4549099" cy="27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8"/>
          <p:cNvPicPr preferRelativeResize="0"/>
          <p:nvPr/>
        </p:nvPicPr>
        <p:blipFill rotWithShape="1">
          <a:blip r:embed="rId4">
            <a:alphaModFix/>
          </a:blip>
          <a:srcRect b="0" l="0" r="43915" t="0"/>
          <a:stretch/>
        </p:blipFill>
        <p:spPr>
          <a:xfrm>
            <a:off x="346820" y="2801700"/>
            <a:ext cx="37341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9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Suma y Producto</a:t>
            </a:r>
            <a:endParaRPr sz="1400"/>
          </a:p>
        </p:txBody>
      </p:sp>
      <p:sp>
        <p:nvSpPr>
          <p:cNvPr id="469" name="Google Shape;469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Propiedades</a:t>
            </a:r>
            <a:endParaRPr/>
          </a:p>
        </p:txBody>
      </p:sp>
      <p:sp>
        <p:nvSpPr>
          <p:cNvPr id="470" name="Google Shape;470;p59"/>
          <p:cNvSpPr txBox="1"/>
          <p:nvPr/>
        </p:nvSpPr>
        <p:spPr>
          <a:xfrm>
            <a:off x="812935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471" name="Google Shape;47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375" y="2325175"/>
            <a:ext cx="5204301" cy="17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2800" y="4068000"/>
            <a:ext cx="6023461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729450" y="2280400"/>
            <a:ext cx="7688700" cy="25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Entender el modelo de ejecución</a:t>
            </a:r>
            <a:endParaRPr b="1"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Procesador secuencial de 32 bits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1 unidad de tiempo por operación aritmética, lógica, asignación o retorno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No se consideran paralelismos ni optimizaciones de hardware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El modelo de ejecución define cómo medimos el costo de un algoritmo.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Elegir bien el modelo es clave: no es lo mismo ejecutar en RAM que en memoria externa.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En este curso asumimos un modelo RAM secuencial donde todo cuesta 1 unidad.</a:t>
            </a:r>
            <a:endParaRPr b="1"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8" name="Google Shape;478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</a:t>
            </a:r>
            <a:r>
              <a:rPr lang="es"/>
              <a:t>- </a:t>
            </a:r>
            <a:r>
              <a:rPr lang="es"/>
              <a:t>¿Cómo determinamos la complejidad temporal?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1"/>
          <p:cNvSpPr txBox="1"/>
          <p:nvPr>
            <p:ph idx="1" type="body"/>
          </p:nvPr>
        </p:nvSpPr>
        <p:spPr>
          <a:xfrm>
            <a:off x="729450" y="2280400"/>
            <a:ext cx="7688700" cy="25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Identificar operaciones repetitivas</a:t>
            </a:r>
            <a:endParaRPr b="1"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Analiza bucles, llamadas recursivas, condicionales y operaciones anidadas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Observa cuántas veces se ejecuta cada bloque en función del tamaño de entrada 𝑛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Contar el número de operaciones dominantes</a:t>
            </a:r>
            <a:endParaRPr b="1"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Ignora constantes pequeñas, operaciones individuales o de bajo impacto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Quédate con los términos que más crecen (por ejemplo, n^2 domina a n)</a:t>
            </a:r>
            <a:endParaRPr sz="1400"/>
          </a:p>
        </p:txBody>
      </p:sp>
      <p:sp>
        <p:nvSpPr>
          <p:cNvPr id="484" name="Google Shape;484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¿Cómo determinamos la complejidad temporal?</a:t>
            </a:r>
            <a:endParaRPr/>
          </a:p>
        </p:txBody>
      </p:sp>
      <p:pic>
        <p:nvPicPr>
          <p:cNvPr id="485" name="Google Shape;48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7050" y="4353475"/>
            <a:ext cx="300990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2"/>
          <p:cNvSpPr txBox="1"/>
          <p:nvPr>
            <p:ph idx="1" type="body"/>
          </p:nvPr>
        </p:nvSpPr>
        <p:spPr>
          <a:xfrm>
            <a:off x="6350700" y="1350600"/>
            <a:ext cx="25686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400"/>
              <a:t>¿Cuál es la complejidad temporal?</a:t>
            </a:r>
            <a:endParaRPr b="1" sz="1400"/>
          </a:p>
        </p:txBody>
      </p:sp>
      <p:sp>
        <p:nvSpPr>
          <p:cNvPr id="491" name="Google Shape;491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Ejemplo</a:t>
            </a:r>
            <a:endParaRPr/>
          </a:p>
        </p:txBody>
      </p:sp>
      <p:pic>
        <p:nvPicPr>
          <p:cNvPr id="492" name="Google Shape;492;p62"/>
          <p:cNvPicPr preferRelativeResize="0"/>
          <p:nvPr/>
        </p:nvPicPr>
        <p:blipFill rotWithShape="1">
          <a:blip r:embed="rId3">
            <a:alphaModFix/>
          </a:blip>
          <a:srcRect b="0" l="0" r="58954" t="0"/>
          <a:stretch/>
        </p:blipFill>
        <p:spPr>
          <a:xfrm>
            <a:off x="404200" y="2350425"/>
            <a:ext cx="2809726" cy="22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3"/>
          <p:cNvSpPr txBox="1"/>
          <p:nvPr>
            <p:ph idx="1" type="body"/>
          </p:nvPr>
        </p:nvSpPr>
        <p:spPr>
          <a:xfrm>
            <a:off x="6071425" y="653725"/>
            <a:ext cx="29274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¿Cuál es la complejidad temporal?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s" sz="1400"/>
              <a:t>Depende…</a:t>
            </a:r>
            <a:endParaRPr b="1" sz="1400"/>
          </a:p>
        </p:txBody>
      </p:sp>
      <p:sp>
        <p:nvSpPr>
          <p:cNvPr id="498" name="Google Shape;498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Ejemplo</a:t>
            </a:r>
            <a:endParaRPr/>
          </a:p>
        </p:txBody>
      </p:sp>
      <p:pic>
        <p:nvPicPr>
          <p:cNvPr id="499" name="Google Shape;499;p63"/>
          <p:cNvPicPr preferRelativeResize="0"/>
          <p:nvPr/>
        </p:nvPicPr>
        <p:blipFill rotWithShape="1">
          <a:blip r:embed="rId3">
            <a:alphaModFix/>
          </a:blip>
          <a:srcRect b="13376" l="3004" r="68685" t="34877"/>
          <a:stretch/>
        </p:blipFill>
        <p:spPr>
          <a:xfrm>
            <a:off x="78925" y="1921350"/>
            <a:ext cx="1937950" cy="115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00" y="3181300"/>
            <a:ext cx="1885000" cy="80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20" y="4094595"/>
            <a:ext cx="4372774" cy="10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48950" y="1921350"/>
            <a:ext cx="2114748" cy="20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1649" y="1486773"/>
            <a:ext cx="1820850" cy="6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16250" y="2267800"/>
            <a:ext cx="3371649" cy="280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4"/>
          <p:cNvSpPr txBox="1"/>
          <p:nvPr>
            <p:ph idx="1" type="body"/>
          </p:nvPr>
        </p:nvSpPr>
        <p:spPr>
          <a:xfrm>
            <a:off x="6071425" y="653725"/>
            <a:ext cx="29274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¿Cuál es la complejidad temporal?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s" sz="1400"/>
              <a:t>Depende…</a:t>
            </a:r>
            <a:endParaRPr b="1" sz="1400"/>
          </a:p>
        </p:txBody>
      </p:sp>
      <p:sp>
        <p:nvSpPr>
          <p:cNvPr id="510" name="Google Shape;510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Ejemplo</a:t>
            </a:r>
            <a:endParaRPr/>
          </a:p>
        </p:txBody>
      </p:sp>
      <p:pic>
        <p:nvPicPr>
          <p:cNvPr id="511" name="Google Shape;511;p64"/>
          <p:cNvPicPr preferRelativeResize="0"/>
          <p:nvPr/>
        </p:nvPicPr>
        <p:blipFill rotWithShape="1">
          <a:blip r:embed="rId3">
            <a:alphaModFix/>
          </a:blip>
          <a:srcRect b="13376" l="3004" r="68685" t="34877"/>
          <a:stretch/>
        </p:blipFill>
        <p:spPr>
          <a:xfrm>
            <a:off x="78925" y="1921350"/>
            <a:ext cx="1937950" cy="115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00" y="3181300"/>
            <a:ext cx="1885000" cy="80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20" y="4094595"/>
            <a:ext cx="4372774" cy="10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48950" y="1921350"/>
            <a:ext cx="2114748" cy="20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4095" y="2006250"/>
            <a:ext cx="4387506" cy="2710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5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</a:t>
            </a:r>
            <a:r>
              <a:rPr b="1" lang="es" sz="1400"/>
              <a:t>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21" name="Google Shape;521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522" name="Google Shape;522;p65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523" name="Google Shape;52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000" y="2883550"/>
            <a:ext cx="31242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6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29" name="Google Shape;529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530" name="Google Shape;530;p66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531" name="Google Shape;53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000" y="2883550"/>
            <a:ext cx="312420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66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O(1)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7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38" name="Google Shape;538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pic>
        <p:nvPicPr>
          <p:cNvPr id="539" name="Google Shape;53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48825"/>
            <a:ext cx="30480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7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8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46" name="Google Shape;546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pic>
        <p:nvPicPr>
          <p:cNvPr id="547" name="Google Shape;54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48825"/>
            <a:ext cx="30480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8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sp>
        <p:nvSpPr>
          <p:cNvPr id="549" name="Google Shape;549;p68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9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55" name="Google Shape;555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556" name="Google Shape;556;p69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557" name="Google Shape;55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613" y="2755650"/>
            <a:ext cx="338137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0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63" name="Google Shape;563;p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564" name="Google Shape;564;p70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565" name="Google Shape;56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613" y="2755650"/>
            <a:ext cx="3381375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0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O(1)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1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72" name="Google Shape;572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573" name="Google Shape;573;p71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574" name="Google Shape;57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225" y="2571738"/>
            <a:ext cx="4495800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2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80" name="Google Shape;580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581" name="Google Shape;581;p72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582" name="Google Shape;58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225" y="2571738"/>
            <a:ext cx="44958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2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O(n^2)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3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89" name="Google Shape;589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590" name="Google Shape;590;p73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591" name="Google Shape;59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2775" y="2536523"/>
            <a:ext cx="4458901" cy="187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4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597" name="Google Shape;597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598" name="Google Shape;598;p74"/>
          <p:cNvSpPr txBox="1"/>
          <p:nvPr/>
        </p:nvSpPr>
        <p:spPr>
          <a:xfrm>
            <a:off x="796175" y="3204050"/>
            <a:ext cx="352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599" name="Google Shape;59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2775" y="2536523"/>
            <a:ext cx="4458901" cy="1871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74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O(Log(Log(n))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5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06" name="Google Shape;606;p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07" name="Google Shape;607;p75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608" name="Google Shape;60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800" y="2099198"/>
            <a:ext cx="4158150" cy="29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6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14" name="Google Shape;614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15" name="Google Shape;615;p76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616" name="Google Shape;6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800" y="2099198"/>
            <a:ext cx="4158150" cy="2971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76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O(Log(n))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7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23" name="Google Shape;623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24" name="Google Shape;624;p77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625" name="Google Shape;62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738" y="2674850"/>
            <a:ext cx="355282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8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31" name="Google Shape;631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32" name="Google Shape;632;p78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sp>
        <p:nvSpPr>
          <p:cNvPr id="633" name="Google Shape;633;p78"/>
          <p:cNvSpPr/>
          <p:nvPr/>
        </p:nvSpPr>
        <p:spPr>
          <a:xfrm>
            <a:off x="2945475" y="364475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34" name="Google Shape;63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738" y="2674850"/>
            <a:ext cx="355282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78"/>
          <p:cNvSpPr/>
          <p:nvPr/>
        </p:nvSpPr>
        <p:spPr>
          <a:xfrm>
            <a:off x="1450775" y="364475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O(Log(n))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9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41" name="Google Shape;641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42" name="Google Shape;642;p79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643" name="Google Shape;64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900" y="2669875"/>
            <a:ext cx="36195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0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49" name="Google Shape;649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50" name="Google Shape;650;p80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sp>
        <p:nvSpPr>
          <p:cNvPr id="651" name="Google Shape;651;p80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O(Log(Log(n)))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52" name="Google Shape;65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900" y="2669875"/>
            <a:ext cx="36195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1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58" name="Google Shape;658;p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59" name="Google Shape;659;p81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660" name="Google Shape;66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390" y="1882175"/>
            <a:ext cx="3820186" cy="31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2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66" name="Google Shape;666;p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67" name="Google Shape;667;p82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O(n*m)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69" name="Google Shape;66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390" y="1882175"/>
            <a:ext cx="3820186" cy="31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3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75" name="Google Shape;675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76" name="Google Shape;676;p83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677" name="Google Shape;67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2688" y="1879500"/>
            <a:ext cx="3914775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83"/>
          <p:cNvSpPr/>
          <p:nvPr/>
        </p:nvSpPr>
        <p:spPr>
          <a:xfrm>
            <a:off x="6278450" y="2075350"/>
            <a:ext cx="475500" cy="20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4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84" name="Google Shape;684;p8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85" name="Google Shape;685;p84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sp>
        <p:nvSpPr>
          <p:cNvPr id="686" name="Google Shape;686;p84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87" name="Google Shape;68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2688" y="1879500"/>
            <a:ext cx="3914775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5"/>
          <p:cNvSpPr txBox="1"/>
          <p:nvPr>
            <p:ph idx="1" type="body"/>
          </p:nvPr>
        </p:nvSpPr>
        <p:spPr>
          <a:xfrm>
            <a:off x="729450" y="2433650"/>
            <a:ext cx="7688700" cy="23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693" name="Google Shape;693;p85"/>
          <p:cNvSpPr txBox="1"/>
          <p:nvPr>
            <p:ph type="title"/>
          </p:nvPr>
        </p:nvSpPr>
        <p:spPr>
          <a:xfrm>
            <a:off x="729450" y="1318650"/>
            <a:ext cx="3842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694" name="Google Shape;694;p85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pic>
        <p:nvPicPr>
          <p:cNvPr id="695" name="Google Shape;69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051" y="517950"/>
            <a:ext cx="4405476" cy="45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85"/>
          <p:cNvSpPr/>
          <p:nvPr/>
        </p:nvSpPr>
        <p:spPr>
          <a:xfrm>
            <a:off x="5421200" y="789475"/>
            <a:ext cx="982800" cy="1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6"/>
          <p:cNvSpPr txBox="1"/>
          <p:nvPr>
            <p:ph idx="1" type="body"/>
          </p:nvPr>
        </p:nvSpPr>
        <p:spPr>
          <a:xfrm>
            <a:off x="729450" y="2433650"/>
            <a:ext cx="7688700" cy="23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400"/>
              <a:t>Ejercicios -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702" name="Google Shape;702;p86"/>
          <p:cNvSpPr txBox="1"/>
          <p:nvPr>
            <p:ph type="title"/>
          </p:nvPr>
        </p:nvSpPr>
        <p:spPr>
          <a:xfrm>
            <a:off x="729450" y="1318650"/>
            <a:ext cx="3842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Temporal</a:t>
            </a:r>
            <a:endParaRPr/>
          </a:p>
        </p:txBody>
      </p:sp>
      <p:sp>
        <p:nvSpPr>
          <p:cNvPr id="703" name="Google Shape;703;p86"/>
          <p:cNvSpPr txBox="1"/>
          <p:nvPr/>
        </p:nvSpPr>
        <p:spPr>
          <a:xfrm>
            <a:off x="796175" y="3204050"/>
            <a:ext cx="3702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b="1"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¿Cuál es la complejidad temporal?</a:t>
            </a:r>
            <a:endParaRPr/>
          </a:p>
        </p:txBody>
      </p:sp>
      <p:sp>
        <p:nvSpPr>
          <p:cNvPr id="704" name="Google Shape;704;p86"/>
          <p:cNvSpPr/>
          <p:nvPr/>
        </p:nvSpPr>
        <p:spPr>
          <a:xfrm>
            <a:off x="1917325" y="3634300"/>
            <a:ext cx="1373700" cy="4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O(n^2)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05" name="Google Shape;70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051" y="517950"/>
            <a:ext cx="4405476" cy="45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7"/>
          <p:cNvSpPr txBox="1"/>
          <p:nvPr>
            <p:ph idx="1" type="body"/>
          </p:nvPr>
        </p:nvSpPr>
        <p:spPr>
          <a:xfrm>
            <a:off x="729450" y="1975100"/>
            <a:ext cx="76887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s" sz="1400">
                <a:solidFill>
                  <a:srgbClr val="000000"/>
                </a:solidFill>
              </a:rPr>
              <a:t>Es un resultado clave del análisis de algoritmos que permite estimar cotas asintóticas para ciertas funciones definidas de forma recurrente.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s" sz="1400">
                <a:solidFill>
                  <a:srgbClr val="000000"/>
                </a:solidFill>
              </a:rPr>
              <a:t>Se presenta como una herramienta práctica, sin necesidad de una demostración formal.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s" sz="1400">
                <a:solidFill>
                  <a:srgbClr val="000000"/>
                </a:solidFill>
              </a:rPr>
              <a:t>Toma como entrada una función recurrente que describe el número de operaciones o recursos usados.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s" sz="1400">
                <a:solidFill>
                  <a:srgbClr val="000000"/>
                </a:solidFill>
              </a:rPr>
              <a:t>Devuelve una cota superior asintótica: Big 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s" sz="1400">
                <a:solidFill>
                  <a:srgbClr val="000000"/>
                </a:solidFill>
              </a:rPr>
              <a:t>El procedimiento implica solo algunos cálculos aritméticos simples (sin necesidad de resolver la recurrencia paso a paso).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711" name="Google Shape;711;p8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8"/>
          <p:cNvSpPr txBox="1"/>
          <p:nvPr>
            <p:ph idx="1" type="body"/>
          </p:nvPr>
        </p:nvSpPr>
        <p:spPr>
          <a:xfrm>
            <a:off x="123350" y="2932250"/>
            <a:ext cx="3341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>
                <a:solidFill>
                  <a:schemeClr val="dk2"/>
                </a:solidFill>
              </a:rPr>
              <a:t>El Teorema Maestro transforma una recurrencia compleja en una estimación directa de complejidad, simplificando el análisis de algoritmos recursivos.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717" name="Google Shape;717;p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pic>
        <p:nvPicPr>
          <p:cNvPr id="718" name="Google Shape;71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913" y="1853850"/>
            <a:ext cx="5489376" cy="32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88"/>
          <p:cNvSpPr txBox="1"/>
          <p:nvPr/>
        </p:nvSpPr>
        <p:spPr>
          <a:xfrm>
            <a:off x="123350" y="4684525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9"/>
          <p:cNvSpPr txBox="1"/>
          <p:nvPr>
            <p:ph idx="1" type="body"/>
          </p:nvPr>
        </p:nvSpPr>
        <p:spPr>
          <a:xfrm>
            <a:off x="123350" y="2932250"/>
            <a:ext cx="3341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>
                <a:solidFill>
                  <a:schemeClr val="dk2"/>
                </a:solidFill>
              </a:rPr>
              <a:t>El Teorema Maestro transforma una recurrencia compleja en una estimación directa de complejidad, simplificando el análisis de algoritmos recursivos.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725" name="Google Shape;725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pic>
        <p:nvPicPr>
          <p:cNvPr id="726" name="Google Shape;72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0788" y="543975"/>
            <a:ext cx="5489376" cy="32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89"/>
          <p:cNvSpPr txBox="1"/>
          <p:nvPr/>
        </p:nvSpPr>
        <p:spPr>
          <a:xfrm>
            <a:off x="123350" y="4684525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728" name="Google Shape;72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4746" y="3866300"/>
            <a:ext cx="5595424" cy="12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734" name="Google Shape;734;p90"/>
          <p:cNvSpPr txBox="1"/>
          <p:nvPr>
            <p:ph idx="1" type="body"/>
          </p:nvPr>
        </p:nvSpPr>
        <p:spPr>
          <a:xfrm>
            <a:off x="123350" y="2101250"/>
            <a:ext cx="5633400" cy="27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 una función simple?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¿Cuántos llamados recursivos? -&gt; a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¿Cómo se reduce el espacio de búsqueda? -&gt; b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¿Cuál es la complejidad del caso base?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¿Cuál es la complejidad del proceso del caso recursivo? -&gt; k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735" name="Google Shape;735;p90"/>
          <p:cNvSpPr txBox="1"/>
          <p:nvPr/>
        </p:nvSpPr>
        <p:spPr>
          <a:xfrm>
            <a:off x="123350" y="4684525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736" name="Google Shape;73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291" y="0"/>
            <a:ext cx="29367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90"/>
          <p:cNvSpPr/>
          <p:nvPr/>
        </p:nvSpPr>
        <p:spPr>
          <a:xfrm>
            <a:off x="6552725" y="28100"/>
            <a:ext cx="656100" cy="14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" name="Google Shape;738;p90"/>
          <p:cNvSpPr/>
          <p:nvPr/>
        </p:nvSpPr>
        <p:spPr>
          <a:xfrm>
            <a:off x="7299950" y="1037900"/>
            <a:ext cx="656100" cy="14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9" name="Google Shape;739;p90"/>
          <p:cNvSpPr/>
          <p:nvPr/>
        </p:nvSpPr>
        <p:spPr>
          <a:xfrm>
            <a:off x="7146175" y="1251525"/>
            <a:ext cx="656100" cy="14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0" name="Google Shape;740;p90"/>
          <p:cNvSpPr/>
          <p:nvPr/>
        </p:nvSpPr>
        <p:spPr>
          <a:xfrm>
            <a:off x="6966175" y="1620150"/>
            <a:ext cx="333900" cy="23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1" name="Google Shape;741;p90"/>
          <p:cNvSpPr/>
          <p:nvPr/>
        </p:nvSpPr>
        <p:spPr>
          <a:xfrm>
            <a:off x="6476525" y="1999975"/>
            <a:ext cx="373500" cy="23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747" name="Google Shape;747;p91"/>
          <p:cNvSpPr txBox="1"/>
          <p:nvPr>
            <p:ph idx="1" type="body"/>
          </p:nvPr>
        </p:nvSpPr>
        <p:spPr>
          <a:xfrm>
            <a:off x="123350" y="2932250"/>
            <a:ext cx="3341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748" name="Google Shape;748;p91"/>
          <p:cNvSpPr txBox="1"/>
          <p:nvPr/>
        </p:nvSpPr>
        <p:spPr>
          <a:xfrm>
            <a:off x="123350" y="4684525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749" name="Google Shape;74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50" y="1853850"/>
            <a:ext cx="5374450" cy="287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7291" y="0"/>
            <a:ext cx="29367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756" name="Google Shape;756;p92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757" name="Google Shape;757;p92"/>
          <p:cNvSpPr txBox="1"/>
          <p:nvPr/>
        </p:nvSpPr>
        <p:spPr>
          <a:xfrm>
            <a:off x="8129400" y="4789500"/>
            <a:ext cx="101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Rocha (2025)</a:t>
            </a:r>
            <a:endParaRPr sz="100"/>
          </a:p>
        </p:txBody>
      </p:sp>
      <p:pic>
        <p:nvPicPr>
          <p:cNvPr id="758" name="Google Shape;75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039" y="2157399"/>
            <a:ext cx="7197926" cy="24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764" name="Google Shape;764;p93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765" name="Google Shape;765;p93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5800475" y="289325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900" y="1960375"/>
            <a:ext cx="541020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772" name="Google Shape;772;p94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773" name="Google Shape;77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625" y="2150875"/>
            <a:ext cx="676275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779" name="Google Shape;779;p95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780" name="Google Shape;78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775" y="2489025"/>
            <a:ext cx="477202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9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786" name="Google Shape;786;p96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787" name="Google Shape;78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2336625"/>
            <a:ext cx="514350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9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793" name="Google Shape;793;p97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794" name="Google Shape;794;p97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95" name="Google Shape;79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053" y="0"/>
            <a:ext cx="301694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97"/>
          <p:cNvPicPr preferRelativeResize="0"/>
          <p:nvPr/>
        </p:nvPicPr>
        <p:blipFill rotWithShape="1">
          <a:blip r:embed="rId4">
            <a:alphaModFix/>
          </a:blip>
          <a:srcRect b="9831" l="13473" r="45085" t="47481"/>
          <a:stretch/>
        </p:blipFill>
        <p:spPr>
          <a:xfrm>
            <a:off x="3144162" y="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4500" y="1058425"/>
            <a:ext cx="256222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9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03" name="Google Shape;803;p98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04" name="Google Shape;804;p98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5" name="Google Shape;80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053" y="0"/>
            <a:ext cx="301694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98"/>
          <p:cNvPicPr preferRelativeResize="0"/>
          <p:nvPr/>
        </p:nvPicPr>
        <p:blipFill rotWithShape="1">
          <a:blip r:embed="rId4">
            <a:alphaModFix/>
          </a:blip>
          <a:srcRect b="9831" l="13473" r="45085" t="47481"/>
          <a:stretch/>
        </p:blipFill>
        <p:spPr>
          <a:xfrm>
            <a:off x="3144162" y="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4500" y="1058425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495" y="2595625"/>
            <a:ext cx="4888675" cy="22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9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14" name="Google Shape;814;p99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pic>
        <p:nvPicPr>
          <p:cNvPr id="815" name="Google Shape;81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925" y="2222088"/>
            <a:ext cx="312420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99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17" name="Google Shape;817;p99"/>
          <p:cNvPicPr preferRelativeResize="0"/>
          <p:nvPr/>
        </p:nvPicPr>
        <p:blipFill rotWithShape="1">
          <a:blip r:embed="rId4">
            <a:alphaModFix/>
          </a:blip>
          <a:srcRect b="9831" l="13473" r="45085" t="47481"/>
          <a:stretch/>
        </p:blipFill>
        <p:spPr>
          <a:xfrm>
            <a:off x="5502913" y="795425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3575" y="1745850"/>
            <a:ext cx="256222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24" name="Google Shape;824;p100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25" name="Google Shape;825;p100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26" name="Google Shape;82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138" y="1574388"/>
            <a:ext cx="4333875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100"/>
          <p:cNvPicPr preferRelativeResize="0"/>
          <p:nvPr/>
        </p:nvPicPr>
        <p:blipFill rotWithShape="1">
          <a:blip r:embed="rId4">
            <a:alphaModFix/>
          </a:blip>
          <a:srcRect b="9831" l="13473" r="45085" t="47481"/>
          <a:stretch/>
        </p:blipFill>
        <p:spPr>
          <a:xfrm>
            <a:off x="5380563" y="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3975" y="1017350"/>
            <a:ext cx="256222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34" name="Google Shape;834;p101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35" name="Google Shape;835;p101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36" name="Google Shape;836;p101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5380563" y="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975" y="1017350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9388" y="2114063"/>
            <a:ext cx="390525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0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44" name="Google Shape;844;p102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45" name="Google Shape;845;p102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46" name="Google Shape;846;p102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2039037" y="5250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1200" y="4472600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102"/>
          <p:cNvPicPr preferRelativeResize="0"/>
          <p:nvPr/>
        </p:nvPicPr>
        <p:blipFill rotWithShape="1">
          <a:blip r:embed="rId5">
            <a:alphaModFix/>
          </a:blip>
          <a:srcRect b="0" l="0" r="31020" t="0"/>
          <a:stretch/>
        </p:blipFill>
        <p:spPr>
          <a:xfrm>
            <a:off x="5093400" y="303950"/>
            <a:ext cx="3934849" cy="470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54" name="Google Shape;854;p103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55" name="Google Shape;855;p103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56" name="Google Shape;856;p103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2039037" y="5250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1200" y="4472600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103"/>
          <p:cNvPicPr preferRelativeResize="0"/>
          <p:nvPr/>
        </p:nvPicPr>
        <p:blipFill rotWithShape="1">
          <a:blip r:embed="rId5">
            <a:alphaModFix/>
          </a:blip>
          <a:srcRect b="0" l="0" r="31020" t="0"/>
          <a:stretch/>
        </p:blipFill>
        <p:spPr>
          <a:xfrm>
            <a:off x="5093400" y="303950"/>
            <a:ext cx="3934849" cy="470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925" y="2377745"/>
            <a:ext cx="4569349" cy="22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65" name="Google Shape;865;p104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66" name="Google Shape;866;p104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67" name="Google Shape;867;p104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5801038" y="40975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1375" y="1507225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104"/>
          <p:cNvPicPr preferRelativeResize="0"/>
          <p:nvPr/>
        </p:nvPicPr>
        <p:blipFill rotWithShape="1">
          <a:blip r:embed="rId5">
            <a:alphaModFix/>
          </a:blip>
          <a:srcRect b="57172" l="0" r="0" t="19536"/>
          <a:stretch/>
        </p:blipFill>
        <p:spPr>
          <a:xfrm>
            <a:off x="729450" y="2330498"/>
            <a:ext cx="8029575" cy="7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75" name="Google Shape;875;p105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76" name="Google Shape;876;p105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7" name="Google Shape;877;p105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5905413" y="61235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750" y="1743400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372" y="2411697"/>
            <a:ext cx="6311575" cy="25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0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85" name="Google Shape;885;p106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86" name="Google Shape;886;p106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7" name="Google Shape;887;p106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5905413" y="61235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750" y="1743400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4800" y="3188800"/>
            <a:ext cx="4037456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0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895" name="Google Shape;895;p107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896" name="Google Shape;896;p107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97" name="Google Shape;897;p107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5905413" y="61235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750" y="1743400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4800" y="3188800"/>
            <a:ext cx="4037456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5448" y="3515850"/>
            <a:ext cx="1365975" cy="1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10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71816" y="2734579"/>
            <a:ext cx="1062900" cy="146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Maestro</a:t>
            </a:r>
            <a:endParaRPr/>
          </a:p>
        </p:txBody>
      </p:sp>
      <p:sp>
        <p:nvSpPr>
          <p:cNvPr id="907" name="Google Shape;907;p108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Ejemplos </a:t>
            </a:r>
            <a:r>
              <a:rPr b="1" lang="es" sz="1400">
                <a:solidFill>
                  <a:srgbClr val="FF0000"/>
                </a:solidFill>
              </a:rPr>
              <a:t>(Bonificación por explicación)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id="908" name="Google Shape;908;p108"/>
          <p:cNvSpPr txBox="1"/>
          <p:nvPr/>
        </p:nvSpPr>
        <p:spPr>
          <a:xfrm>
            <a:off x="99925" y="3091525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 es la complejidad?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 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b-&gt;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Relación de recurrencia -&gt;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09" name="Google Shape;909;p108"/>
          <p:cNvPicPr preferRelativeResize="0"/>
          <p:nvPr/>
        </p:nvPicPr>
        <p:blipFill rotWithShape="1">
          <a:blip r:embed="rId3">
            <a:alphaModFix/>
          </a:blip>
          <a:srcRect b="9831" l="13473" r="45085" t="47481"/>
          <a:stretch/>
        </p:blipFill>
        <p:spPr>
          <a:xfrm>
            <a:off x="5905413" y="612350"/>
            <a:ext cx="2982876" cy="10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750" y="1743400"/>
            <a:ext cx="25622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4800" y="3188800"/>
            <a:ext cx="4037456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5448" y="3515850"/>
            <a:ext cx="1365975" cy="1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10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71816" y="2734579"/>
            <a:ext cx="1062900" cy="146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10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75825" y="2526288"/>
            <a:ext cx="1285525" cy="1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0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espacial</a:t>
            </a:r>
            <a:endParaRPr/>
          </a:p>
        </p:txBody>
      </p:sp>
      <p:sp>
        <p:nvSpPr>
          <p:cNvPr id="920" name="Google Shape;920;p109"/>
          <p:cNvSpPr txBox="1"/>
          <p:nvPr>
            <p:ph idx="1" type="body"/>
          </p:nvPr>
        </p:nvSpPr>
        <p:spPr>
          <a:xfrm>
            <a:off x="674750" y="2022525"/>
            <a:ext cx="7688700" cy="27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Espacio total en memoria utilizado por un algoritmo en términos del tamaño de su entrada.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Incluye </a:t>
            </a:r>
            <a:r>
              <a:rPr b="1" lang="es" sz="1400">
                <a:solidFill>
                  <a:schemeClr val="dk2"/>
                </a:solidFill>
              </a:rPr>
              <a:t>espacio auxiliar </a:t>
            </a:r>
            <a:r>
              <a:rPr lang="es" sz="1400">
                <a:solidFill>
                  <a:schemeClr val="dk2"/>
                </a:solidFill>
              </a:rPr>
              <a:t>y espacio usado por la entrada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El espacio auxiliar incluye espacio extra y </a:t>
            </a:r>
            <a:r>
              <a:rPr b="1" lang="es" sz="1400">
                <a:solidFill>
                  <a:schemeClr val="dk2"/>
                </a:solidFill>
              </a:rPr>
              <a:t>espacio temporal</a:t>
            </a:r>
            <a:endParaRPr b="1" sz="14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s" sz="1400">
                <a:solidFill>
                  <a:schemeClr val="dk2"/>
                </a:solidFill>
              </a:rPr>
              <a:t>Se tienen en cuenta para el cálculo: </a:t>
            </a:r>
            <a:endParaRPr b="1"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Variables y constantes fijas: O(1) →</a:t>
            </a:r>
            <a:r>
              <a:rPr lang="es" sz="1400">
                <a:solidFill>
                  <a:schemeClr val="dk2"/>
                </a:solidFill>
              </a:rPr>
              <a:t> </a:t>
            </a:r>
            <a:r>
              <a:rPr lang="es" sz="1400">
                <a:solidFill>
                  <a:schemeClr val="dk2"/>
                </a:solidFill>
              </a:rPr>
              <a:t>Siempre ocupan el mismo espacio, así que no se recalculan.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Inputs: parámetros iniciales → Este espacio ya se asignó.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Ejecución: </a:t>
            </a:r>
            <a:r>
              <a:rPr b="1" lang="es" sz="1400">
                <a:solidFill>
                  <a:schemeClr val="dk2"/>
                </a:solidFill>
              </a:rPr>
              <a:t>Tener en cuenta el </a:t>
            </a:r>
            <a:r>
              <a:rPr b="1" i="1" lang="es" sz="1400">
                <a:solidFill>
                  <a:schemeClr val="dk2"/>
                </a:solidFill>
              </a:rPr>
              <a:t>call-stack</a:t>
            </a:r>
            <a:r>
              <a:rPr b="1" lang="es" sz="1400">
                <a:solidFill>
                  <a:schemeClr val="dk2"/>
                </a:solidFill>
              </a:rPr>
              <a:t>! </a:t>
            </a:r>
            <a:endParaRPr b="1" sz="1400">
              <a:solidFill>
                <a:schemeClr val="dk2"/>
              </a:solidFill>
            </a:endParaRPr>
          </a:p>
          <a:p>
            <a:pPr indent="-31750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b="1" lang="es" sz="1400">
                <a:solidFill>
                  <a:schemeClr val="dk2"/>
                </a:solidFill>
              </a:rPr>
              <a:t>Para recursión y llamados encadenados.</a:t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10"/>
          <p:cNvSpPr txBox="1"/>
          <p:nvPr>
            <p:ph type="title"/>
          </p:nvPr>
        </p:nvSpPr>
        <p:spPr>
          <a:xfrm>
            <a:off x="729450" y="1318650"/>
            <a:ext cx="471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espacial</a:t>
            </a:r>
            <a:endParaRPr/>
          </a:p>
        </p:txBody>
      </p:sp>
      <p:sp>
        <p:nvSpPr>
          <p:cNvPr id="926" name="Google Shape;926;p110"/>
          <p:cNvSpPr txBox="1"/>
          <p:nvPr>
            <p:ph idx="1" type="body"/>
          </p:nvPr>
        </p:nvSpPr>
        <p:spPr>
          <a:xfrm>
            <a:off x="674750" y="2381775"/>
            <a:ext cx="47658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del input?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auxiliar? -&gt;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¿CallStack?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¿Complejidad espacial? -&gt;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pic>
        <p:nvPicPr>
          <p:cNvPr id="927" name="Google Shape;927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0550" y="2381775"/>
            <a:ext cx="216217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110">
            <a:hlinkClick r:id="rId4"/>
          </p:cNvPr>
          <p:cNvSpPr txBox="1"/>
          <p:nvPr/>
        </p:nvSpPr>
        <p:spPr>
          <a:xfrm>
            <a:off x="8406300" y="4754100"/>
            <a:ext cx="737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dev.to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11"/>
          <p:cNvSpPr txBox="1"/>
          <p:nvPr>
            <p:ph type="title"/>
          </p:nvPr>
        </p:nvSpPr>
        <p:spPr>
          <a:xfrm>
            <a:off x="729450" y="1318650"/>
            <a:ext cx="471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espacial</a:t>
            </a:r>
            <a:endParaRPr/>
          </a:p>
        </p:txBody>
      </p:sp>
      <p:sp>
        <p:nvSpPr>
          <p:cNvPr id="934" name="Google Shape;934;p111"/>
          <p:cNvSpPr txBox="1"/>
          <p:nvPr>
            <p:ph idx="1" type="body"/>
          </p:nvPr>
        </p:nvSpPr>
        <p:spPr>
          <a:xfrm>
            <a:off x="674750" y="2381775"/>
            <a:ext cx="47658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del input?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auxiliar? -&gt;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¿CallStack?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¿Complejidad espacial? -&gt;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pic>
        <p:nvPicPr>
          <p:cNvPr id="935" name="Google Shape;935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0550" y="2079025"/>
            <a:ext cx="2628900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111">
            <a:hlinkClick r:id="rId4"/>
          </p:cNvPr>
          <p:cNvSpPr txBox="1"/>
          <p:nvPr/>
        </p:nvSpPr>
        <p:spPr>
          <a:xfrm>
            <a:off x="8406300" y="4754100"/>
            <a:ext cx="737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dev.to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2"/>
          <p:cNvSpPr txBox="1"/>
          <p:nvPr>
            <p:ph type="title"/>
          </p:nvPr>
        </p:nvSpPr>
        <p:spPr>
          <a:xfrm>
            <a:off x="729450" y="1318650"/>
            <a:ext cx="471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espacial</a:t>
            </a:r>
            <a:endParaRPr/>
          </a:p>
        </p:txBody>
      </p:sp>
      <p:sp>
        <p:nvSpPr>
          <p:cNvPr id="942" name="Google Shape;942;p112"/>
          <p:cNvSpPr txBox="1"/>
          <p:nvPr>
            <p:ph idx="1" type="body"/>
          </p:nvPr>
        </p:nvSpPr>
        <p:spPr>
          <a:xfrm>
            <a:off x="674750" y="2381775"/>
            <a:ext cx="47658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del input?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auxiliar? -&gt;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¿CallStack?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¿Complejidad espacial? -&gt;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pic>
        <p:nvPicPr>
          <p:cNvPr id="943" name="Google Shape;943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05688"/>
            <a:ext cx="428625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13"/>
          <p:cNvSpPr txBox="1"/>
          <p:nvPr>
            <p:ph type="title"/>
          </p:nvPr>
        </p:nvSpPr>
        <p:spPr>
          <a:xfrm>
            <a:off x="729450" y="1318650"/>
            <a:ext cx="471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espacial</a:t>
            </a:r>
            <a:endParaRPr/>
          </a:p>
        </p:txBody>
      </p:sp>
      <p:sp>
        <p:nvSpPr>
          <p:cNvPr id="949" name="Google Shape;949;p113"/>
          <p:cNvSpPr txBox="1"/>
          <p:nvPr>
            <p:ph idx="1" type="body"/>
          </p:nvPr>
        </p:nvSpPr>
        <p:spPr>
          <a:xfrm>
            <a:off x="674750" y="2381775"/>
            <a:ext cx="47658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del input?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auxiliar? -&gt;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¿CallStack?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¿Complejidad espacial? -&gt;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pic>
        <p:nvPicPr>
          <p:cNvPr id="950" name="Google Shape;950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9410" y="0"/>
            <a:ext cx="308458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14"/>
          <p:cNvSpPr txBox="1"/>
          <p:nvPr>
            <p:ph type="title"/>
          </p:nvPr>
        </p:nvSpPr>
        <p:spPr>
          <a:xfrm>
            <a:off x="729450" y="1318650"/>
            <a:ext cx="471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espacial</a:t>
            </a:r>
            <a:endParaRPr/>
          </a:p>
        </p:txBody>
      </p:sp>
      <p:sp>
        <p:nvSpPr>
          <p:cNvPr id="956" name="Google Shape;956;p114"/>
          <p:cNvSpPr txBox="1"/>
          <p:nvPr>
            <p:ph idx="1" type="body"/>
          </p:nvPr>
        </p:nvSpPr>
        <p:spPr>
          <a:xfrm>
            <a:off x="674750" y="2381775"/>
            <a:ext cx="47658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del input?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auxiliar? -&gt;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¿CallStack?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¿Complejidad espacial? -&gt;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pic>
        <p:nvPicPr>
          <p:cNvPr id="957" name="Google Shape;957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575" y="2333988"/>
            <a:ext cx="499110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15"/>
          <p:cNvSpPr txBox="1"/>
          <p:nvPr>
            <p:ph type="title"/>
          </p:nvPr>
        </p:nvSpPr>
        <p:spPr>
          <a:xfrm>
            <a:off x="729450" y="1318650"/>
            <a:ext cx="471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espacial</a:t>
            </a:r>
            <a:endParaRPr/>
          </a:p>
        </p:txBody>
      </p:sp>
      <p:sp>
        <p:nvSpPr>
          <p:cNvPr id="963" name="Google Shape;963;p115"/>
          <p:cNvSpPr txBox="1"/>
          <p:nvPr>
            <p:ph idx="1" type="body"/>
          </p:nvPr>
        </p:nvSpPr>
        <p:spPr>
          <a:xfrm>
            <a:off x="674750" y="2381775"/>
            <a:ext cx="47658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del input?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auxiliar? -&gt;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¿CallStack?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¿Complejidad espacial? -&gt;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pic>
        <p:nvPicPr>
          <p:cNvPr id="964" name="Google Shape;964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1750" y="0"/>
            <a:ext cx="423542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16"/>
          <p:cNvSpPr txBox="1"/>
          <p:nvPr>
            <p:ph type="title"/>
          </p:nvPr>
        </p:nvSpPr>
        <p:spPr>
          <a:xfrm>
            <a:off x="729450" y="1318650"/>
            <a:ext cx="471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Complejidad espacial</a:t>
            </a:r>
            <a:endParaRPr/>
          </a:p>
        </p:txBody>
      </p:sp>
      <p:sp>
        <p:nvSpPr>
          <p:cNvPr id="970" name="Google Shape;970;p116"/>
          <p:cNvSpPr txBox="1"/>
          <p:nvPr>
            <p:ph idx="1" type="body"/>
          </p:nvPr>
        </p:nvSpPr>
        <p:spPr>
          <a:xfrm>
            <a:off x="674750" y="2381775"/>
            <a:ext cx="47658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del input?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¿Espacio auxiliar? -&gt;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>
                <a:solidFill>
                  <a:schemeClr val="dk2"/>
                </a:solidFill>
              </a:rPr>
              <a:t>¿CallStack? -&gt;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¿Complejidad espacial? -&gt;</a:t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pic>
        <p:nvPicPr>
          <p:cNvPr id="971" name="Google Shape;971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2850" y="1256288"/>
            <a:ext cx="3398651" cy="2875022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116">
            <a:hlinkClick r:id="rId4"/>
          </p:cNvPr>
          <p:cNvSpPr txBox="1"/>
          <p:nvPr/>
        </p:nvSpPr>
        <p:spPr>
          <a:xfrm>
            <a:off x="8406300" y="4754100"/>
            <a:ext cx="737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dev.to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17"/>
          <p:cNvSpPr txBox="1"/>
          <p:nvPr>
            <p:ph type="title"/>
          </p:nvPr>
        </p:nvSpPr>
        <p:spPr>
          <a:xfrm>
            <a:off x="729450" y="1318650"/>
            <a:ext cx="744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Asintótico - </a:t>
            </a:r>
            <a:r>
              <a:rPr i="1" lang="es"/>
              <a:t>Recursión Tree Method</a:t>
            </a:r>
            <a:endParaRPr i="1"/>
          </a:p>
        </p:txBody>
      </p:sp>
      <p:sp>
        <p:nvSpPr>
          <p:cNvPr id="978" name="Google Shape;978;p117"/>
          <p:cNvSpPr txBox="1"/>
          <p:nvPr>
            <p:ph idx="1" type="body"/>
          </p:nvPr>
        </p:nvSpPr>
        <p:spPr>
          <a:xfrm>
            <a:off x="674750" y="2381775"/>
            <a:ext cx="7834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" sz="1400">
                <a:solidFill>
                  <a:schemeClr val="dk2"/>
                </a:solidFill>
              </a:rPr>
              <a:t>Algunos ejemplos: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s" sz="1400" u="sng">
                <a:solidFill>
                  <a:schemeClr val="hlink"/>
                </a:solidFill>
                <a:hlinkClick r:id="rId3"/>
              </a:rPr>
              <a:t>https://www.youtube.com/watch?v=0D2-sYen23E</a:t>
            </a:r>
            <a:endParaRPr sz="14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sp>
        <p:nvSpPr>
          <p:cNvPr id="979" name="Google Shape;979;p117">
            <a:hlinkClick r:id="rId4"/>
          </p:cNvPr>
          <p:cNvSpPr txBox="1"/>
          <p:nvPr/>
        </p:nvSpPr>
        <p:spPr>
          <a:xfrm>
            <a:off x="8406300" y="4754100"/>
            <a:ext cx="737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dev.to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Algunos textos interesantes</a:t>
            </a:r>
            <a:endParaRPr/>
          </a:p>
        </p:txBody>
      </p:sp>
      <p:sp>
        <p:nvSpPr>
          <p:cNvPr id="985" name="Google Shape;985;p1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Diseño y análisis de algoritmos. Camilo Rocha. 2025.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Algorithms. Jeff Erickson. 2019.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Introduction to algorithms (4th Ed.). Thomas Cormen et al. 2019.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u="sng">
                <a:solidFill>
                  <a:schemeClr val="hlink"/>
                </a:solidFill>
                <a:hlinkClick r:id="rId3"/>
              </a:rPr>
              <a:t>Un buen blog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u="sng">
                <a:solidFill>
                  <a:schemeClr val="hlink"/>
                </a:solidFill>
                <a:hlinkClick r:id="rId4"/>
              </a:rPr>
              <a:t>Una buena lectura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